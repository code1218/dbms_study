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548640"/>
            <a:ext cx="3657600" cy="3657600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2D8B8B">
              <a:alpha val="22000"/>
            </a:srgbClr>
          </a:solidFill>
          <a:ln w="12700">
            <a:solidFill>
              <a:srgbClr val="2D8B8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2194560" cy="32004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 10일 완성 과정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54864" cy="1691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2316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가공의 기술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내장 함수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777240" y="3886200"/>
            <a:ext cx="6858000" cy="502920"/>
          </a:xfrm>
          <a:prstGeom prst="rect">
            <a:avLst/>
          </a:prstGeom>
          <a:solidFill>
            <a:srgbClr val="182236"/>
          </a:solidFill>
          <a:ln w="12700">
            <a:solidFill>
              <a:srgbClr val="1822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862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💬  "꺼낸 데이터를 좀 다듬고 싶은데요?"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한국IT교육센터 부산점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배울 것들 — 내장 함수 4종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987552"/>
            <a:ext cx="420624" cy="420624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87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914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문자열 함수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20700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 · SUBSTRING · LENGTH · LPAD · REPLACE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412480" y="868680"/>
            <a:ext cx="365760" cy="658368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64208"/>
            <a:ext cx="8412480" cy="658368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1783080"/>
            <a:ext cx="420624" cy="42062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7830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1709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 함수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00253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· CEIL · FLOOR · MOD · ABS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412480" y="1664208"/>
            <a:ext cx="36576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45973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2578608"/>
            <a:ext cx="420624" cy="420624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786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25054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 함수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279806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 · DATE_FORMAT · DATEDIFF · DATE_ADD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0" y="2459736"/>
            <a:ext cx="365760" cy="65836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255264"/>
            <a:ext cx="8412480" cy="658368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374136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3741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330098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함수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35935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IFNULL · IF · CASE WHEN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412480" y="3255264"/>
            <a:ext cx="365760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05079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" y="4169664"/>
            <a:ext cx="420624" cy="420624"/>
          </a:xfrm>
          <a:prstGeom prst="ellipse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1696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97280" y="40965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DISTINCT &amp; AS + SELECT 최종 구조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97280" y="438912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중복 제거, 별칭, SELECT 완성형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412480" y="4050792"/>
            <a:ext cx="365760" cy="658368"/>
          </a:xfrm>
          <a:prstGeom prst="rect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3 복습 퀴즈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544068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5440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98755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restaurants에 새 가게를 3건 한 번에 INSERT하는 SQL은?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0" y="1005840"/>
            <a:ext cx="137160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10058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힌트: 다건 INSERT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1700784"/>
            <a:ext cx="8503920" cy="667512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856232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856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179222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10000~20000원 메뉴를 조회하는 두 가지 방법은?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0" y="1810512"/>
            <a:ext cx="137160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181051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힌트: BETWEEN, &gt;=&amp;&lt;=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505456"/>
            <a:ext cx="85039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660904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660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259689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LIKE '%치킨%'과 LIKE '치킨%'의 차이는?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0" y="2615184"/>
            <a:ext cx="137160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261518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힌트: % 위치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310128"/>
            <a:ext cx="8503920" cy="667512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465576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465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340156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 BY rating DESC LIMIT 5의 의미는?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3419856"/>
            <a:ext cx="137160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341985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힌트: 상위 5개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4114800"/>
            <a:ext cx="85039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4270248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270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5840" y="42062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 없는 UPDATE가 위험한 이유는?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15200" y="4224528"/>
            <a:ext cx="137160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0" y="422452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힌트: 전체 수정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함수란? — 엑셀 함수의 SQL 버전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solidFill>
            <a:srgbClr val="FFF3D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772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 엑셀에서 쓰던 함수들, SQL에도 다 있어요! 더 강력하게!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43584"/>
          <a:ext cx="8503920" cy="914400"/>
        </p:xfrm>
        <a:graphic>
          <a:graphicData uri="http://schemas.openxmlformats.org/drawingml/2006/table">
            <a:tbl>
              <a:tblPr/>
              <a:tblGrid>
                <a:gridCol w="2125980"/>
                <a:gridCol w="2125980"/>
                <a:gridCol w="2125980"/>
                <a:gridCol w="21259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엑셀 함수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MySQL 함수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문자 합치기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=CONCATENATE(A1,B1)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CONCAT(name, '분류')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가게명+카테고리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일부 추출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=MID(A1,1,3)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SUBSTRING(name,1,3)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앞 3글자만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반올림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=ROUND(A1,0)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ROUND(price,0)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가격 반올림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 분기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=IF(A1&gt;10000,"비쌈","저렴")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IF(price&gt;10000,'비쌈','저렴')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가격 분류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다중 조건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=IFS(...)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CASE WHEN...THEN...END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등급 분류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오늘 날짜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=TODAY()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CURDATE()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날짜 표시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날짜 차이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=DATEDIF(A1,B1,"D")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DATEDIFF(NOW(),joined_at)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가입 며칠째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문자열 함수 — CONCAT / SUBSTRING / TRIM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41605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77240"/>
            <a:ext cx="4160520" cy="347472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7724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CONCAT · SUBSTRING · TRIM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188720"/>
            <a:ext cx="3977640" cy="356616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261872"/>
            <a:ext cx="3703320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CONCAT: 문자열 합치기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CONCAT(name, ' (', category, ')')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AS 가게정보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restaurants;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결과: 부산명가갈비 (한식)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SUBSTRING(문자열, 시작위치, 길이)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SUBSTRING(name, 1, 3) AS 앞3글자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restaurants;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TRIM: 공백 제거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TRIM('  해운대  ');        -- '해운대'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LTRIM('  해운대  ');       -- '해운대  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RTRIM('  해운대  ');       -- '  해운대'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REPLACE(원본, 찾을것, 바꿀것)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REPLACE(address, '부산', '🌊부산')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restaurants;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777240"/>
            <a:ext cx="41605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777240"/>
            <a:ext cx="4160520" cy="34747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77724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LENGTH vs CHAR_LENGTH ⚠️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3977640" cy="356616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1261872"/>
            <a:ext cx="3703320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LENGTH: 바이트 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CHAR_LENGTH: 실제 글자 수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LENGTH('한글'),      -- 6 (UTF-8: 한글 1자=3바이트)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CHAR_LENGTH('한글'); -- 2 (실제 2글자)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LENGTH('ABC'),       -- 3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CHAR_LENGTH('ABC');  -- 3 (영문은 동일)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한입배달에서의 차이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LENGTH(name) AS 바이트수,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CHAR_LENGTH(name) AS 글자수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restaurants;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name='부산명가갈비' (6글자)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LENGTH = 18, CHAR_LENGTH = 6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실무 활용: 이름 글자수 필터링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menus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CHAR_LENGTH(menu_name) &lt;= 4; -- 4글자 이하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문자열 함수 — LPAD · UPPER · LOWER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LPAD — 주문번호 포맷팅 (실무 필수!)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188720"/>
            <a:ext cx="8321040" cy="251460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261872"/>
            <a:ext cx="8046720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LPAD(값, 전체길이, 채울문자)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LPAD(id, 5, '0') AS 주문번호, menu_name, price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menus;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결과: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주문번호  | menu_name  | price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-- 00001    | 갈비탕      | 12000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-- 00002    | 비빔밥      | 9000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-- 00003    | 된장찌개    | 8000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...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RPAD: 오른쪽 채우기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RPAD(name, 10, '★') AS 가게명_장식 FROM restaurants;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부산명가갈비★★★★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UPPER / LOWER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UPPER('hello mysql');   -- HELLO MYSQL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LOWER('HELLO MYSQL');   -- hello mysql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4114800"/>
            <a:ext cx="8503920" cy="896112"/>
          </a:xfrm>
          <a:prstGeom prst="rect">
            <a:avLst/>
          </a:prstGeom>
          <a:solidFill>
            <a:srgbClr val="E8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114800"/>
            <a:ext cx="8229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 LPAD 실무 활용 사례
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주문번호: </a:t>
            </a:r>
            <a:pPr indent="0" marL="0">
              <a:buNone/>
            </a:pPr>
            <a:r>
              <a:rPr lang="en-US" sz="1050" dirty="0">
                <a:solidFill>
                  <a:srgbClr val="2D8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LPAD(order_id, 8, '0')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00000001  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학번: </a:t>
            </a:r>
            <a:pPr indent="0" marL="0">
              <a:buNone/>
            </a:pPr>
            <a:r>
              <a:rPr lang="en-US" sz="1050" dirty="0">
                <a:solidFill>
                  <a:srgbClr val="2D8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LPAD(student_id, 10, '0')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2026000001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 함수 — ROUND · CEIL · FLOOR · MOD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41605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77240"/>
            <a:ext cx="41605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7724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반올림/올림/내림 비교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88720"/>
          <a:ext cx="39776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325880"/>
                <a:gridCol w="13258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함수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예: 1234.56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ROUND(n,d)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반올림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ROUND(1234.56,0) = 1235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ROUND(n,1)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소수1자리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ROUND(1234.56,1) = 1234.6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CEIL(n)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올림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CEIL(1234.56) = 1235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FLOOR(n)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FLOOR(1234.56) = 1234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TRUNCATE(n,d)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TRUNCATE(1234.56,1) = 1234.5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ABS(n)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절댓값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ABS(-500) = 500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MOD(n,m)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나머지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MOD(17,5) = 2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663440" y="777240"/>
            <a:ext cx="41605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777240"/>
            <a:ext cx="4160520" cy="347472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3440" y="77724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실전 예제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54880" y="1188720"/>
            <a:ext cx="3977640" cy="356616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892040" y="1261872"/>
            <a:ext cx="3703320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별점 반올림 (소수점 없애기)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ROUND(rating, 0) AS 별점_반올림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restaurants;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가격 1000원 단위 올림 (배달비 계산 등)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menu_name,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price,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CEIL(price / 1000) * 1000 AS 천원단위_올림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menus;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부가세 포함 가격 (반올림)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menu_name,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price AS 기본가격,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ROUND(price * 1.1) AS 부가세포함가격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menus;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MOD: 짝수 id 메뉴만 (홀수=1, 짝수=0)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menus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MOD(id, 2) = 0;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 함수 — DATE_FORMAT · DATEDIFF · DATE_ADD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41605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77240"/>
            <a:ext cx="4160520" cy="34747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7724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날짜 함수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188720"/>
            <a:ext cx="3977640" cy="356616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261872"/>
            <a:ext cx="3703320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현재 날짜/시간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NOW();           -- 2026-04-17 14:30:00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CURDATE();       -- 2026-04-17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CURTIME();       -- 14:30:00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DATE_FORMAT: 포맷 변경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DATE_FORMAT(joined_at, '%Y년 %m월 %d일')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AS 가입일_한국형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결과: 2026년 01월 15일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주요 포맷 코드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%Y: 4자리 연도   %y: 2자리 연도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%m: 2자리 월     %d: 2자리 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%H: 24시 시간    %i: 분    %s: 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%W: 요일(영문)   %a: 요일 약자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YEAR / MONTH / DAY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YEAR(joined_at),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MONTH(joined_at),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DAY(joined_at)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customers;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777240"/>
            <a:ext cx="41605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777240"/>
            <a:ext cx="4160520" cy="347472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77724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DATEDIFF · DATE_ADD · DATE_SUB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3977640" cy="356616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1261872"/>
            <a:ext cx="3703320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DATEDIFF: 날짜 차이 (일 수)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DATEDIFF(NOW(), joined_at) AS 가입후_일수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결과: 홍길동 → 92일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DATE_ADD: 날짜 더하기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DATE_ADD(NOW(), INTERVAL 7 DAY);   -- 7일 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DATE_ADD(NOW(), INTERVAL 1 MONTH); -- 1달 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DATE_ADD(NOW(), INTERVAL 1 YEAR);  -- 1년 후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DATE_SUB: 날짜 빼기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DATE_SUB(NOW(), INTERVAL 30 DAY);  -- 30일 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DATE_SUB(NOW(), INTERVAL 3 MONTH); -- 3달 전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실전 활용: 최근 30일 가입 고객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customers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joined_at &gt;= DATE_SUB(NOW(), INTERVAL 30 DAY);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함수 — IFNULL · IF · CASE WHEN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solidFill>
            <a:srgbClr val="FFF3D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 CASE WHEN = 엑셀의 중첩 IF!  NULL 처리부터 다중 조건까지 자유자재로!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207008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207008"/>
            <a:ext cx="416052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07008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IFNULL · IF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1618488"/>
            <a:ext cx="3977640" cy="312724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691640"/>
            <a:ext cx="370332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IFNULL(값, NULL일때_대체값)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menu_name,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IFNULL(menu_description, '설명 없음') AS 설명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menus;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menu_description이 NULL이면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'설명 없음' 출력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IF(조건, 참일때, 거짓일때)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menu_name, price,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IF(price &gt;= 10000, '고가', '저가') AS 가격분류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menus;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IF 중첩은 CASE WHEN 사용 권장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가입일이 NULL이면 '미입력' 처리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IFNULL(DATE_FORMAT(joined_at,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'%Y-%m-%d'), '미입력') AS 가입일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customers;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207008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07008"/>
            <a:ext cx="4160520" cy="347472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207008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CASE WHEN — 다중 조건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618488"/>
            <a:ext cx="3977640" cy="312724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1691640"/>
            <a:ext cx="370332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CASE WHEN 기본 구조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menu_name, price,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price &gt;= 15000 THEN '고가'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price &gt;= 8000  THEN '중가'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'저가'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AS 가격대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menus;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별점 등급 부여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rating,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rating &gt;= 4.5 THEN '⭐⭐⭐ 최고'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rating &gt;= 4.0 THEN '⭐⭐ 좋음'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rating &gt;= 3.5 THEN '⭐ 보통'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'😐 아직 평가 없음'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AS 별점등급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restaurants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rating DESC;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DISTINCT · AS — 중복 제거와 별칭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41605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77240"/>
            <a:ext cx="4160520" cy="347472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7724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DISTINCT — 중복 제거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188720"/>
            <a:ext cx="3977640" cy="239572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261872"/>
            <a:ext cx="370332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중복 없는 카테고리 목록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category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restaurants;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결과: 한식, 치킨, 피자, 중식, 분식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DISTINCT는 SELECT 바로 뒤에 딱 한 번!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❌ SELECT id, DISTINCT category -- 오류!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✅ SELECT DISTINCT category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복수 컬럼: 조합이 중복인 것만 제거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category, is_available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menus;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777240"/>
            <a:ext cx="41605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777240"/>
            <a:ext cx="41605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77724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 — 별칭 (Alias)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3977640" cy="239572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1261872"/>
            <a:ext cx="370332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컬럼 별칭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menu_name AS 메뉴명,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price     AS 가격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menus;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계산식 별칭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menu_name,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price,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ROUND(price * 1.1) AS 부가세포함가격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menus;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CONCAT + AS 조합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CONCAT(name,'(',category,')') AS 가게정보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restaurants;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950208"/>
            <a:ext cx="8503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950208"/>
            <a:ext cx="850392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95020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SELECT 완성형 구조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4361688"/>
            <a:ext cx="8321040" cy="56692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4434840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CONCAT(name,'(',category,')') AS 가게정보, ROUND(rating,0) AS 별점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restaurants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rating &gt;= 4.0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rating DESC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5;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 치트시트 — 한눈에 보기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04672"/>
          <a:ext cx="41605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146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문자열 함수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예시 / 결과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8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CONCAT(a,b)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CONCAT('부산','명가') → '부산명가'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SUBSTRING(s,n,l)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SUBSTRING('해운대',1,2) → '해운'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LENGTH(s)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LENGTH('한글') → 6 (바이트)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CHAR_LENGTH(s)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CHAR_LENGTH('한글') → 2 (글자)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TRIM(s)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TRIM(' 공백 ') → '공백'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REPLACE(s,f,r)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REPLACE('부산','부산','Seoul')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LPAD(s,n,p)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LPAD(1,5,'0') → '00001'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UPPER/LOWER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UPPER('hello') → 'HELLO'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77056"/>
          <a:ext cx="41605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14600"/>
              </a:tblGrid>
              <a:tr h="1645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숫자 함수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예시 / 결과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ROUND(n,d)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ROUND(4.567,1) → 4.6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CEIL(n)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CEIL(4.1) → 5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FLOOR(n)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FLOOR(4.9) → 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TRUNCATE(n,d)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TRUNCATE(4.99,1) → 4.9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ABS(n)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ABS(-100) → 100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MOD(n,m)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MOD(10,3) → 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804672"/>
          <a:ext cx="41605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317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날짜 함수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예시 / 결과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NOW()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2026-04-17 14:30:00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CURDATE()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2026-04-17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DATE_FORMAT(d,f)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DATE_FORMAT(d,'%Y년%m월') → '2026년04월'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DATEDIFF(a,b)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DATEDIFF('2026-04-17','2026-01-01') → 106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DATE_ADD(d,INTERVAL n X)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DATE_ADD(NOW(),INTERVAL 7 DAY)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DATE_SUB(d,INTERVAL n X)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DATE_SUB(NOW(),INTERVAL 1 MONTH)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YEAR/MONTH/DAY(d)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YEAR('2026-04-17') → 2026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3877056"/>
          <a:ext cx="41605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146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 함수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예시 / 결과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IFNULL(v,d)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IFNULL(NULL,'없음') → '없음'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IF(cond,t,f)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IF(price&gt;10000,'고가','저가')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CASE WHEN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8B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CASE WHEN p&gt;=15000 THEN '고가' ELSE '기타' END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따라하기 — 함수 조합 실습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43891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7498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파일: day04_functions.sql  |  파트별로 차근차근 실행하세요!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097280"/>
            <a:ext cx="41605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09728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 정보 한 줄로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3192" y="1508760"/>
            <a:ext cx="4014216" cy="120700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" y="1581912"/>
            <a:ext cx="37398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CONCAT(name, ' (', category, ')') AS 가게정보,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ROUND(rating, 1) AS 별점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restaurants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rating DESC;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97280"/>
            <a:ext cx="41605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09728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가격 분류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28032" y="1508760"/>
            <a:ext cx="4014216" cy="120700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65192" y="1581912"/>
            <a:ext cx="37398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menu_name, price,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price &gt;= 15000 THEN '고가'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price &gt;= 8000  THEN '중가'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'저가'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AS 가격대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menus ORDER BY price DESC;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9718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71800"/>
            <a:ext cx="41605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97180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 글자수 필터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3192" y="3383280"/>
            <a:ext cx="4014216" cy="120700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0352" y="3456432"/>
            <a:ext cx="37398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menu_name,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CHAR_LENGTH(menu_name) AS 글자수,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LENGTH(menu_name) AS 바이트수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menus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CHAR_LENGTH(menu_name) &gt;= 4;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9718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971800"/>
            <a:ext cx="41605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97180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가입 정보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28032" y="3383280"/>
            <a:ext cx="4014216" cy="120700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65192" y="3456432"/>
            <a:ext cx="37398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DATE_FORMAT(joined_at,'%Y년 %m월 %d일') AS 가입일,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DATEDIFF(NOW(), joined_at) AS 가입후_일수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joined_at;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연습 문제 — 혼자 해보기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75438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7543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시간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0" y="749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파일: day04-practice.md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" y="1307592"/>
            <a:ext cx="347472" cy="347472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3075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6968" y="11521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" y="140817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CONCAT으로 '가게명 (카테고리)' 형태 조회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4160520" cy="804672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64608" y="1307592"/>
            <a:ext cx="347472" cy="347472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13075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21808" y="11521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21808" y="140817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CHAR_LENGTH로 이름 4글자 이상 메뉴 조회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039112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9768" y="2249424"/>
            <a:ext cx="347472" cy="347472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22494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" y="209397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⭐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6968" y="235000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LPAD(id,5,'0')으로 메뉴ID를 00001 형태로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039112"/>
            <a:ext cx="4160520" cy="804672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64608" y="2249424"/>
            <a:ext cx="347472" cy="347472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22494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21808" y="209397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⭐⭐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21808" y="235000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ROUND로 부가세(10%) 제외 가격 계산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980944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9768" y="3191256"/>
            <a:ext cx="347472" cy="347472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31912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86968" y="303580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⭐⭐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86968" y="329184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DATE_FORMAT으로 가입일을 '2026년 01월' 형태로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980944"/>
            <a:ext cx="4160520" cy="804672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64608" y="3191256"/>
            <a:ext cx="347472" cy="347472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31912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21808" y="303580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⭐⭐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21808" y="329184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CASE WHEN으로 메뉴 가격을 고가/중가/저가 분류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3922776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29768" y="4133088"/>
            <a:ext cx="347472" cy="347472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9768" y="41330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86968" y="39776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⭐⭐⭐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86968" y="423367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IFNULL+CONCAT: '메뉴명: 설명(없으면 설명없음)' 출력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3922776"/>
            <a:ext cx="4160520" cy="804672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64608" y="4133088"/>
            <a:ext cx="347472" cy="347472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64608" y="41330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21808" y="39776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⭐⭐⭐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321808" y="423367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함수 조합: '★★★ 부산명가 (한식) — 평점:4.5점' 형태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핵심 정리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22960"/>
            <a:ext cx="594360" cy="59436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22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85953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13385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문자열 합치기. CONCAT(a,b,c,...)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822960"/>
            <a:ext cx="594360" cy="59436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822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49240" y="85953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CHAR_LENGTH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49240" y="113385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글자 수. 한글에는 LENGTH 대신 이걸 써야!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1572768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572768"/>
            <a:ext cx="59436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5727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🔢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160934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LPAD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1883664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채우기. 주문번호 00001 포맷팅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1572768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572768"/>
            <a:ext cx="59436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5727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🔢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49240" y="160934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/ CEIL / FLOOR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49240" y="1883664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반올림/올림/내림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2322576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322576"/>
            <a:ext cx="594360" cy="59436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32257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5840" y="23591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DATE_FORMAT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5840" y="263347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 → 원하는 형태 문자열로 변환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2322576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2322576"/>
            <a:ext cx="594360" cy="59436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32257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⏱️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49240" y="23591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DATEDIFF / DATE_ADD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49240" y="263347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 차이 계산 / 날짜 더하기/빼기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487168" y="3072384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487168" y="3072384"/>
            <a:ext cx="594360" cy="594360"/>
          </a:xfrm>
          <a:prstGeom prst="rect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87168" y="307238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172968" y="31089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WHEN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172968" y="338328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다중 조건 분기. 엑셀 중첩 IF의 SQL 버전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914400"/>
            <a:ext cx="3657600" cy="3657600"/>
          </a:xfrm>
          <a:prstGeom prst="ellipse">
            <a:avLst/>
          </a:prstGeom>
          <a:solidFill>
            <a:srgbClr val="2D8B8B">
              <a:alpha val="15000"/>
            </a:srgbClr>
          </a:solidFill>
          <a:ln w="12700">
            <a:solidFill>
              <a:srgbClr val="2D8B8B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60D14"/>
          </a:solidFill>
          <a:ln w="12700">
            <a:solidFill>
              <a:srgbClr val="060D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B3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4 마무리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함수로 데이터를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자유자재로 가공! 🔧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64008" cy="2103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37360"/>
            <a:ext cx="6858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그런데...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데이터 가공은 됐는데, </a:t>
            </a:r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합계/평균 같은 요약은?
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88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전체 주문 금액이 얼마예요?
</a:t>
            </a:r>
            <a:pPr indent="0" marL="0">
              <a:buNone/>
            </a:pPr>
            <a:r>
              <a:rPr lang="en-US" sz="1200" dirty="0">
                <a:solidFill>
                  <a:srgbClr val="88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가게별 매출을 비교하고 싶어요
</a:t>
            </a:r>
            <a:pPr indent="0" marL="0">
              <a:buNone/>
            </a:pPr>
            <a:r>
              <a:rPr lang="en-US" sz="1200" dirty="0">
                <a:solidFill>
                  <a:srgbClr val="88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월별 주문 수 트렌드를 보고 싶어요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8046720" cy="822960"/>
          </a:xfrm>
          <a:prstGeom prst="rect">
            <a:avLst/>
          </a:prstGeom>
          <a:solidFill>
            <a:srgbClr val="1B2A4A"/>
          </a:solidFill>
          <a:ln w="19050">
            <a:solidFill>
              <a:srgbClr val="2D8B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97764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📅  Day 5 — 데이터 요약의 기술: 집계 &amp; GROUP BY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B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· SUM · AVG · MAX · MIN · GROUP BY · HAVING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 — 데이터 가공의 기술: 내장 함수</dc:title>
  <dc:subject>PptxGenJS Presentation</dc:subject>
  <dc:creator>PptxGenJS</dc:creator>
  <cp:lastModifiedBy>PptxGenJS</cp:lastModifiedBy>
  <cp:revision>1</cp:revision>
  <dcterms:created xsi:type="dcterms:W3CDTF">2026-04-16T16:55:56Z</dcterms:created>
  <dcterms:modified xsi:type="dcterms:W3CDTF">2026-04-16T16:55:56Z</dcterms:modified>
</cp:coreProperties>
</file>