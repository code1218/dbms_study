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548640"/>
            <a:ext cx="3657600" cy="365760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2D8B8B">
              <a:alpha val="22000"/>
            </a:srgbClr>
          </a:solidFill>
          <a:ln w="12700">
            <a:solidFill>
              <a:srgbClr val="2D8B8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194560" cy="32004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MySQL 10일 완성 과정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4864" cy="1645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2316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성능과 안전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· 뷰 · 트랜잭션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77240" y="3840480"/>
            <a:ext cx="6858000" cy="502920"/>
          </a:xfrm>
          <a:prstGeom prst="rect">
            <a:avLst/>
          </a:prstGeom>
          <a:solidFill>
            <a:srgbClr val="182236"/>
          </a:solidFill>
          <a:ln w="12700">
            <a:solidFill>
              <a:srgbClr val="1822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404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💬  "쿼리가 느려요 / 에러나면 어떡해요?"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한국IT교육센터 부산점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배울 것들 — 3가지 불편 해결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216152"/>
            <a:ext cx="420624" cy="420624"/>
          </a:xfrm>
          <a:prstGeom prst="ellipse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161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923544"/>
            <a:ext cx="3200400" cy="32918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923544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INDEX (인덱스)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289304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책의 목차 — EXPLAIN · CREATE INDEX · 설계 가이드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1124712"/>
            <a:ext cx="3017520" cy="548640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12471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😤 불편: 쿼리가 느려요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412480" y="868680"/>
            <a:ext cx="365760" cy="111556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167128"/>
            <a:ext cx="8412480" cy="1115568"/>
          </a:xfrm>
          <a:prstGeom prst="rect">
            <a:avLst/>
          </a:prstGeom>
          <a:solidFill>
            <a:srgbClr val="EBF4F4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514600"/>
            <a:ext cx="420624" cy="420624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5146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05840" y="2221992"/>
            <a:ext cx="3200400" cy="32918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22199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VIEW (뷰)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587752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즐겨찾기 — CREATE VIEW · 재사용 · 보안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2423160"/>
            <a:ext cx="3017520" cy="548640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24231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😤 불편: 복잡한 쿼리를 매번 다시 써요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0" y="2167128"/>
            <a:ext cx="365760" cy="11155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465576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3813048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81304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05840" y="3520440"/>
            <a:ext cx="3200400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35204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TRANSACTION (트랜잭션)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886200"/>
            <a:ext cx="4572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 오어 낫씽 — COMMIT · ROLLBACK · SAVEPOINT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3721608"/>
            <a:ext cx="3017520" cy="548640"/>
          </a:xfrm>
          <a:prstGeom prst="rect">
            <a:avLst/>
          </a:prstGeom>
          <a:solidFill>
            <a:srgbClr val="FFF3CD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372160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😤 불편: 중간 에러나면 데이터가 망가져요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412480" y="3465576"/>
            <a:ext cx="365760" cy="11155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Day 7 복습 퀴즈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8412480" cy="4114800"/>
          </a:xfrm>
          <a:prstGeom prst="rect">
            <a:avLst/>
          </a:prstGeom>
          <a:solidFill>
            <a:srgbClr val="FAFBFD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772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⏱  10분  |  Day 7 서브쿼리 점검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2801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Q1.  서브쿼리가 들어갈 수 있는 3가지 위치는?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65392" y="1298448"/>
            <a:ext cx="1938528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298448"/>
            <a:ext cx="1938528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WHERE절, FROM절, SELECT절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193852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Q2.  FROM절 서브쿼리에서 반드시 필요한 것은?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65392" y="1956816"/>
            <a:ext cx="1938528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5392" y="1956816"/>
            <a:ext cx="1938528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AS 별칭 (없으면 ERROR 1248)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4360" y="259689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Q3.  IN 과 EXISTS 의 주요 차이점은?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65392" y="2615184"/>
            <a:ext cx="1938528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2615184"/>
            <a:ext cx="1938528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IN은 값 목록 비교, EXISTS는 존재 여부만 확인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4360" y="325526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Q4.  UNION 과 UNION ALL 의 차이는?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65392" y="3273552"/>
            <a:ext cx="1938528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3273552"/>
            <a:ext cx="1938528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UNION=중복 제거, UNION ALL=중복 포함(빠름)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94360" y="391363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Q5.  스칼라 서브쿼리가 2행을 반환하면?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65392" y="3931920"/>
            <a:ext cx="1938528" cy="274320"/>
          </a:xfrm>
          <a:prstGeom prst="rect">
            <a:avLst/>
          </a:prstGeom>
          <a:solidFill>
            <a:srgbClr val="EBF4F4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65392" y="3931920"/>
            <a:ext cx="1938528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ERROR — 스칼라는 반드시 1행 1열만 반환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INDEX — 책의 목차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658368"/>
          </a:xfrm>
          <a:prstGeom prst="rect">
            <a:avLst/>
          </a:prstGeom>
          <a:solidFill>
            <a:srgbClr val="EBF8FF"/>
          </a:solidFill>
          <a:ln w="12700">
            <a:solidFill>
              <a:srgbClr val="2D8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32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📚  비유: 500페이지 책에서 '인덱스(목차)' 없이 단어 찾기 vs 있을 때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08813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없음: 1페이지부터 순서대로 검색 (Full Scan)  |  인덱스 있음: 목차에서 페이지 번호 바로 확인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4160520" cy="170535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627632"/>
            <a:ext cx="3886200" cy="1522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인덱스 없을 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orders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customer_id = 3;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type = ALL  rows = 50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-- 50행 전부 검사! (풀스캔)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536192"/>
            <a:ext cx="4069080" cy="170535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627632"/>
            <a:ext cx="3794760" cy="1522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인덱스 생성 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idx_orders_customer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orders(customer_id);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orders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customer_id = 3;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type = ref  rows = 5 (5배 빨라짐)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351276"/>
            <a:ext cx="841248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5127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EXPLAIN type 컬럼 해석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680460"/>
            <a:ext cx="8412480" cy="310896"/>
          </a:xfrm>
          <a:prstGeom prst="rect">
            <a:avLst/>
          </a:prstGeom>
          <a:solidFill>
            <a:srgbClr val="2C3E6A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68046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값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67712" y="368046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82512" y="3680460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991356"/>
            <a:ext cx="8412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99135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67712" y="399135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풀스캔 (인덱스 없음)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82512" y="3991356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느림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302252"/>
            <a:ext cx="8412480" cy="310896"/>
          </a:xfrm>
          <a:prstGeom prst="rect">
            <a:avLst/>
          </a:prstGeom>
          <a:solidFill>
            <a:srgbClr val="F7F9FC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43022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267712" y="430225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범위 스캔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82512" y="4302252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보통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613148"/>
            <a:ext cx="8412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61314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7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 / eq_ref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267712" y="461314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직접 참조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82512" y="4613148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✅✅ 빠름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INDEX 생성 · 관리 · 설계 가이드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3726180" cy="25603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37261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문법: CREATE INDEX 인덱스명 ON 테이블(컬럼);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133856"/>
            <a:ext cx="4160520" cy="1275588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225296"/>
            <a:ext cx="3886200" cy="1092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단일 컬럼 인덱스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idx_orders_customer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orders(customer_id);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idx_orders_date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orders(order_date);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133856"/>
            <a:ext cx="4069080" cy="149047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225296"/>
            <a:ext cx="379476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복합 인덱스 (순서 중요!)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idx_cust_date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orders(customer_id, order_date);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관리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INDEX FROM orders;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INDEX idx_cust_date ON orders;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752344"/>
            <a:ext cx="8412480" cy="2112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52344"/>
            <a:ext cx="841248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5234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 설계 가이드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" y="3154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인덱스 만들면 좋은 경우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34472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WHERE 절에 자주 등장하는 컬럼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" y="37216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JOIN ON 키 컬럼 (FK)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39959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ORDER BY에 자주 쓰는 컬럼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" y="42702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카디널리티(고유값 수)가 높은 컬럼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31546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❌ 인덱스가 독이 되는 경우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18304" y="34472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값의 종류가 2~3가지뿐 (예: status)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18304" y="37216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INSERT/UPDATE가 매우 빈번한 테이블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18304" y="39959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테이블 행 수가 아주 적을 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18304" y="42702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과도하게 많은 인덱스 → 쓰기 성능 저하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VIEW — 즐겨찾기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621792"/>
          </a:xfrm>
          <a:prstGeom prst="rect">
            <a:avLst/>
          </a:prstGeom>
          <a:solidFill>
            <a:srgbClr val="EBF8FF"/>
          </a:solidFill>
          <a:ln w="12700">
            <a:solidFill>
              <a:srgbClr val="2D8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32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💾  비유: 복잡한 쿼리를 즐겨찾기로 저장 → 이름만 부르면 실행됨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08813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VIEW는 저장된 SELECT 쿼리  |  조회할 때마다 쿼리 실행  |  일반 테이블처럼 사용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517904"/>
            <a:ext cx="2569464" cy="256032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17904"/>
            <a:ext cx="2569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😩  문제: 이 쿼리를 매번 다시 쓴다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810512"/>
            <a:ext cx="8412480" cy="1060704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1901952"/>
            <a:ext cx="813816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r.id, r.name, r.category,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COUNT(o.id) AS 주문수, IFNULL(SUM(o.total_price),0) AS 총매출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restaurants r LEFT JOIN orders o ON r.id=o.restaurant_id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r.id, r.name, r.category;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035808"/>
            <a:ext cx="2674620" cy="256032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35808"/>
            <a:ext cx="26746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해결: VIEW로 저장하면 한 줄로!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VIEW 활용 — 일반 테이블처럼 사용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5829300" cy="256032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58293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VIEW 생성 후: SELECT * FROM v_restaurant_stats  와 같이 사용!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4160520" cy="12298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097280"/>
            <a:ext cx="416052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097280"/>
            <a:ext cx="4014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가게 매출 랭킹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0624" y="1371600"/>
            <a:ext cx="4050792" cy="8458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7784" y="1463040"/>
            <a:ext cx="3776472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주문수, 총매출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v_restaurant_stats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총매출 DESC;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097280"/>
            <a:ext cx="4069080" cy="12298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097280"/>
            <a:ext cx="406908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1097280"/>
            <a:ext cx="3922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치킨 카테고리만 필터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64024" y="1371600"/>
            <a:ext cx="3959352" cy="8458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01184" y="1463040"/>
            <a:ext cx="3685032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주문수, 총매출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v_restaurant_stats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category = '치킨';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436876"/>
            <a:ext cx="4160520" cy="12298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436876"/>
            <a:ext cx="416052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436876"/>
            <a:ext cx="40142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주문 0건 가게 찾기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0624" y="2711196"/>
            <a:ext cx="4050792" cy="8458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7784" y="2802636"/>
            <a:ext cx="3776472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category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v_restaurant_stats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주문수 = 0;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651760"/>
            <a:ext cx="40690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651760"/>
            <a:ext cx="406908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2651760"/>
            <a:ext cx="3922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카테고리별 매출 집계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64024" y="2926080"/>
            <a:ext cx="3959352" cy="1060704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01184" y="3017520"/>
            <a:ext cx="3685032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category, SUM(총매출) AS 카테고리매출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v_restaurant_stats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category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카테고리매출 DESC;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3291840"/>
            <a:ext cx="8412480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3291840"/>
            <a:ext cx="8412480" cy="32918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2918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VIEW 주의사항 &amp; 활용 팁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2920" y="36758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VIEW는 저장된 쿼리! 매번 실행 (캐시 X) — 복잡할수록 느림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3931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GROUP BY · JOIN 있는 뷰: INSERT/UPDATE 불가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41879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보안 활용: 민감 컬럼(phone, email) 제외한 뷰만 노출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444398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7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 VIEW 삭제: DROP VIEW IF EXISTS v_restaurant_stats;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TRANSACTION — 올 오어 낫씽(All or Nothing)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621792"/>
          </a:xfrm>
          <a:prstGeom prst="rect">
            <a:avLst/>
          </a:prstGeom>
          <a:solidFill>
            <a:srgbClr val="EBF8FF"/>
          </a:solidFill>
          <a:ln w="12700">
            <a:solidFill>
              <a:srgbClr val="2D8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32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💳  비유: 계좌이체 — A계좌 -10만원 AND B계좌 +10만원 → 둘 다 성공하거나 둘 다 취소!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088136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중간에 에러 → ROLLBACK(전체 취소)  |  모두 성공 → COMMIT(확정)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536192"/>
            <a:ext cx="502920" cy="16276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36192"/>
            <a:ext cx="50292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32688" y="1609344"/>
            <a:ext cx="3502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Atomicity (원자성)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1920240"/>
            <a:ext cx="350215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성공 또는 모두 실패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"반만 완료"는 없다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32688" y="2560320"/>
            <a:ext cx="3502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🍽️  코스요리: 메인 없이 디저트만 불가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536192"/>
            <a:ext cx="40690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536192"/>
            <a:ext cx="502920" cy="16276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536192"/>
            <a:ext cx="50292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276088" y="1609344"/>
            <a:ext cx="3410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Consistency (일관성)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76088" y="1920240"/>
            <a:ext cx="34107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 전후 데이터 무결성 유지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PK, FK, CHECK 항상 통과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76088" y="2560320"/>
            <a:ext cx="34107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📋  메뉴판: 존재하지 않는 메뉴 주문 불가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273552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273552"/>
            <a:ext cx="502920" cy="16276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50292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32688" y="3346704"/>
            <a:ext cx="35021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Isolation (격리성)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2688" y="3657600"/>
            <a:ext cx="350215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트랜잭션이 서로 간섭 안 함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고객의 주문에 영향 없음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32688" y="4297680"/>
            <a:ext cx="3502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🪑  옆 테이블: 내 주문은 옆 손님과 무관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3273552"/>
            <a:ext cx="40690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273552"/>
            <a:ext cx="502920" cy="16276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273552"/>
            <a:ext cx="502920" cy="1627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276088" y="3346704"/>
            <a:ext cx="3410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Durability (지속성)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76088" y="3657600"/>
            <a:ext cx="3410712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COMMIT 후 장애가 나도 데이터 유지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디스크에 영구 저장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76088" y="4297680"/>
            <a:ext cx="34107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🧾  영수증: COMMIT = 발행된 영수증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TRANSACTION · COMMIT · ROLLBACK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2697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2697480" cy="32918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0467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TRANSACTION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133856"/>
            <a:ext cx="2551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 시작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804672"/>
            <a:ext cx="2697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04672"/>
            <a:ext cx="2697480" cy="329184"/>
          </a:xfrm>
          <a:prstGeom prst="rect">
            <a:avLst/>
          </a:prstGeom>
          <a:solidFill>
            <a:srgbClr val="2D7A4A"/>
          </a:solidFill>
          <a:ln w="12700">
            <a:solidFill>
              <a:srgbClr val="2D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80467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9272" y="1133856"/>
            <a:ext cx="2551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 (영구 저장)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804672"/>
            <a:ext cx="2697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804672"/>
            <a:ext cx="2697480" cy="329184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804672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99632" y="1133856"/>
            <a:ext cx="2551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취소 (원상복구)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554480"/>
            <a:ext cx="4160520" cy="170535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1645920"/>
            <a:ext cx="3886200" cy="1522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✅ COMMIT 시나리오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TRANSACTION;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orders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(customer_id, restaurant_id, menu_id,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quantity, total_price, order_date, delivery_fee)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(1, 1, 1, 2, 20000, NOW(), 3000);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COMMIT;   -- 확정!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1554480"/>
            <a:ext cx="4069080" cy="277977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1645920"/>
            <a:ext cx="3794760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❌ ROLLBACK + SAVEPOINT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TRANSACTION;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menus SET price = price * 2; -- 실수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ROLLBACK;  -- 전체 취소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부분 롤백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TRANSACTION;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orders (...) VALUES (...);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SAVEPOINT p1;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menus SET price=99999; -- 실수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 TO p1;  -- 주문 유지, 수정만 취소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COMMIT;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트랜잭션 — 주문 처리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475488"/>
          </a:xfrm>
          <a:prstGeom prst="rect">
            <a:avLst/>
          </a:prstGeom>
          <a:solidFill>
            <a:srgbClr val="EBF8FF"/>
          </a:solidFill>
          <a:ln w="12700">
            <a:solidFill>
              <a:srgbClr val="2D8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8229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시나리오: 고객이 주문을 넣을 때 여러 처리가 동시에 이루어짐 → 하나라도 실패하면 전체 취소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0789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8B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서비스: ① 주문 INSERT  ② 포인트 차감  ③ 재고 감소  → 모두 트랜잭션으로 묶어야 안전!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8412480" cy="277977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463040"/>
            <a:ext cx="8138160" cy="2596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주문 처리 트랜잭션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TRANSACTION;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Step 1: 주문 삽입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orders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(customer_id, restaurant_id, menu_id,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quantity, total_price, order_date, delivery_fee)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(3, 2, 5, 1, 13000, NOW(), 2000);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Step 2: 확인 후 확정 or 취소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SELECT * FROM orders ORDER BY id DESC LIMIT 3;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COMMIT;   -- 성공 시 / ROLLBACK; -- 실패 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4261104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4261104"/>
            <a:ext cx="841248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2611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트랜잭션 핵심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57200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TRANSACTION → (쿼리들) → COMMIT  또는  ROLLBACK  |  에러 시 반드시 ROLLBACK  |  SAVEPOINT로 부분 롤백 가능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따라하기 — 오늘 3가지 모두 적용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60520" cy="20711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4160520" cy="237744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22960"/>
            <a:ext cx="40142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INDEX — orders 성능 개선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" y="1078992"/>
            <a:ext cx="4050792" cy="1705356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57784" y="1170432"/>
            <a:ext cx="3776472" cy="1522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SELECT * FROM orders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customer_id = 5; -- type=ALL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idx_cust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orders(customer_id);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EXPLAIN SELECT * FROM orders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customer_id = 5; -- type=ref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INDEX FROM orders;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069080" cy="20711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22960"/>
            <a:ext cx="4069080" cy="237744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822960"/>
            <a:ext cx="39227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VIEW — 가게 통계 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64024" y="1078992"/>
            <a:ext cx="3959352" cy="149047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01184" y="1170432"/>
            <a:ext cx="36850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v_restaurant_stats 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r.name, COUNT(o.id) AS 주문수,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IFNULL(SUM(o.total_price),0) AS 총매출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restaurants 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orders o ON r.id=o.restaurant_id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r.id, r.name, r.category;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03804"/>
            <a:ext cx="8412480" cy="1856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03804"/>
            <a:ext cx="8412480" cy="23774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0038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TRANSACTION — 주문 취소 처리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" y="3259836"/>
            <a:ext cx="8302752" cy="1490472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7784" y="3351276"/>
            <a:ext cx="802843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TRANSACTION;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orders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(customer_id, restaurant_id, menu_id,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quantity, total_price, order_date, delivery_fee)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(1, 1, 1, 1, 9000, NOW(), 3000);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ROLLBACK;   -- 연습: 취소해보기  (성공시 COMMIT으로 변경)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974336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한입배달 MySQL 10일 완성 | Day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연습문제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4114800"/>
          </a:xfrm>
          <a:prstGeom prst="rect">
            <a:avLst/>
          </a:prstGeom>
          <a:solidFill>
            <a:srgbClr val="FAFBFD"/>
          </a:solidFill>
          <a:ln w="12700">
            <a:solidFill>
              <a:srgbClr val="CBD5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9601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96012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orders 테이블에서 restaurant_id에 인덱스를 생성하고 EXPLAIN으로 확인하세요.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544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55448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v_active_customers 뷰를 생성하세요: 고객 이름, 주문 횟수, 총 지출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1874520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4884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14884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EXPLAIN의 type 컬럼에서 ALL과 ref의 차이를 설명하고, 인덱스 유무와 연결하세요.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468880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4320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74320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v_restaurant_stats 뷰에서 카테고리별 총매출을 구하세요. (VIEW 위에서 GROUP BY)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063240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3375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33756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TRANSACTION으로 orders INSERT 후, 확인하고 ROLLBACK 하세요. 그 후 데이터가 사라졌는지 확인.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3657600"/>
            <a:ext cx="8275320" cy="18288"/>
          </a:xfrm>
          <a:prstGeom prst="rect">
            <a:avLst/>
          </a:prstGeom>
          <a:solidFill>
            <a:srgbClr val="CBD5E0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319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⭐⭐⭐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93192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SAVEPOINT를 이용해 2개의 INSERT 중 두 번째만 롤백하고, 첫 번째는 COMMIT하세요.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590288"/>
            <a:ext cx="8412480" cy="274320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5902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💾  전체 8문제 + 보너스 2문제 → day08-practice.md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2D8B8B">
              <a:alpha val="20000"/>
            </a:srgbClr>
          </a:solidFill>
          <a:ln w="12700">
            <a:solidFill>
              <a:srgbClr val="2D8B8B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F5A623">
              <a:alpha val="18000"/>
            </a:srgbClr>
          </a:solidFill>
          <a:ln w="12700">
            <a:solidFill>
              <a:srgbClr val="F5A623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502920"/>
            <a:ext cx="2724912" cy="3474720"/>
          </a:xfrm>
          <a:prstGeom prst="rect">
            <a:avLst/>
          </a:prstGeom>
          <a:solidFill>
            <a:srgbClr val="1E2E4A"/>
          </a:solidFill>
          <a:ln w="12700">
            <a:solidFill>
              <a:srgbClr val="2D3F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502920"/>
            <a:ext cx="2724912" cy="384048"/>
          </a:xfrm>
          <a:prstGeom prst="rect">
            <a:avLst/>
          </a:prstGeom>
          <a:solidFill>
            <a:srgbClr val="2D8B8B"/>
          </a:solidFill>
          <a:ln w="12700">
            <a:solidFill>
              <a:srgbClr val="2D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02920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INDEX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" y="96012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EXPLAIN type: ALL→ref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453896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CREATE INDEX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947672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SHOW INDEX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44144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설계: FK·WHERE컬럼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93522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복합 인덱스 순서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10128" y="502920"/>
            <a:ext cx="2724912" cy="3474720"/>
          </a:xfrm>
          <a:prstGeom prst="rect">
            <a:avLst/>
          </a:prstGeom>
          <a:solidFill>
            <a:srgbClr val="1E2E4A"/>
          </a:solidFill>
          <a:ln w="12700">
            <a:solidFill>
              <a:srgbClr val="2D3F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502920"/>
            <a:ext cx="2724912" cy="38404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502920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19856" y="96012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CREATE VIEW 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19856" y="1453896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즐겨찾기 = 저장된 쿼리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19856" y="1947672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DROP VIEW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19856" y="244144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보안 컬럼 제외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19856" y="293522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GROUP BY 위에 사용 가능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54496" y="502920"/>
            <a:ext cx="2724912" cy="3474720"/>
          </a:xfrm>
          <a:prstGeom prst="rect">
            <a:avLst/>
          </a:prstGeom>
          <a:solidFill>
            <a:srgbClr val="1E2E4A"/>
          </a:solidFill>
          <a:ln w="12700">
            <a:solidFill>
              <a:srgbClr val="2D3F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54496" y="502920"/>
            <a:ext cx="2724912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502920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TRANSACTION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64224" y="960120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START TRANSACTION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64224" y="1453896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COMMIT = 확정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64224" y="1947672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ROLLBACK = 취소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64224" y="2441448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SAVEPOINT = 체크포인트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64224" y="2935224"/>
            <a:ext cx="2505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ACID 4가지 보장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8412480" cy="621792"/>
          </a:xfrm>
          <a:prstGeom prst="rect">
            <a:avLst/>
          </a:prstGeom>
          <a:solidFill>
            <a:srgbClr val="182236"/>
          </a:solidFill>
          <a:ln w="12700">
            <a:solidFill>
              <a:srgbClr val="2D3F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114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  ▶  Day 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437083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ERD &amp; 정규화  —  "지금까지 만든 테이블, 설계가 맞는 건가요?"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70916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수고하셨습니다! 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 — 성능과 안전: 인덱스 · 뷰 · 트랜잭션</dc:title>
  <dc:subject>PptxGenJS Presentation</dc:subject>
  <dc:creator>PptxGenJS</dc:creator>
  <cp:lastModifiedBy>PptxGenJS</cp:lastModifiedBy>
  <cp:revision>1</cp:revision>
  <dcterms:created xsi:type="dcterms:W3CDTF">2026-04-28T23:25:45Z</dcterms:created>
  <dcterms:modified xsi:type="dcterms:W3CDTF">2026-04-28T23:25:45Z</dcterms:modified>
</cp:coreProperties>
</file>