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26e2a20-75f4-8470-b97b-7dc39e5663a9}">
          <p14:sldIdLst>
            <p14:sldId id="256"/>
            <p14:sldId id="257"/>
            <p14:sldId id="258"/>
            <p14:sldId id="259"/>
          </p14:sldIdLst>
        </p14:section>
        <p14:section name="문자열 함수" id="{118d2936-a877-dcd2-12a8-68e7ac94b927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숫자 함수" id="{52256a8c-0add-8de9-31a1-f33a2bb30cb8}">
          <p14:sldIdLst>
            <p14:sldId id="266"/>
            <p14:sldId id="267"/>
            <p14:sldId id="268"/>
          </p14:sldIdLst>
        </p14:section>
        <p14:section name="날짜 함수" id="{219dfa61-d1c5-1ef3-33b2-805da4175013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조건 함수와 NULL" id="{a34023dc-40c7-f852-4efd-700f71e94c03}">
          <p14:sldIdLst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마무리" id="{1539724d-92eb-f597-cea1-b76a2cae6482}">
          <p14:sldIdLst>
            <p14:sldId id="283"/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정산팀 규칙: 할인가는 100원 단위 버림. 주문이 수천 건이면 정산 금액이 수십만 원 차이.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100" kern="0" dirty="0">
                <a:solidFill>
                  <a:srgbClr val="E08A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1828800"/>
            <a:ext cx="11002975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5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389120"/>
            <a:ext cx="1100297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5CAD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/>
        </p:nvSpPr>
        <p:spPr>
          <a:xfrm>
            <a:off x="5943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1A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Korea IT Academy Busan · 강사 김준일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EA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2194560"/>
            <a:ext cx="11002975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114800"/>
            <a:ext cx="1100297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943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Ch03 · 함수로 데이터 가공하기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100" kern="0" dirty="0">
                <a:solidFill>
                  <a:srgbClr val="E08A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1097280"/>
            <a:ext cx="1100297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08A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MySQL 30시간 · CHAPTER 03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1828800"/>
            <a:ext cx="110029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함수로</a:t>
            </a:r>
            <a:endParaRPr lang="en-US" sz="5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데이터 가공하기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389120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5CAD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오늘의 DB · hanip_delivery03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오늘의 요청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생일 쿠폰 문자 명단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From. 마케팅팀 이 매니저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94560"/>
            <a:ext cx="1054577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고객 명단을 이렇게 만들어 주세요.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전화번호는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가운데 네 자리를 가려서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,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만 나이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와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나이대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(20대, 30대…), 그리고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가입한 지 며칠 됐는지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(6월 30일 기준)도요.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5120640"/>
            <a:ext cx="11002975" cy="0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525780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customers</a:t>
            </a:r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에는 가려진 번호도, 나이도, 경과일도 없습니다. 하지만 재료(</a:t>
            </a:r>
            <a:pPr indent="0" marL="0">
              <a:buNone/>
            </a:pPr>
            <a:r>
              <a:rPr lang="en-US" sz="16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phone</a:t>
            </a:r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birth_date</a:t>
            </a:r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joined_at</a:t>
            </a:r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)는 있습니다.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목차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오늘 배울 것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0020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44A1B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6002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문자열 함수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806440" y="1600200"/>
            <a:ext cx="5790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자르고 · 붙이고 · 바꾸고 · 채우기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377440"/>
            <a:ext cx="11002975" cy="0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377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44A1B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3774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숫자 함수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2377440"/>
            <a:ext cx="5790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반올림 · 버림 · 올림, 단위가 중요하다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3154680"/>
            <a:ext cx="11002975" cy="0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15468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44A1B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1546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날짜 함수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3154680"/>
            <a:ext cx="5790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형식 · 경과일 · 소요 시간 · 만 나이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931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44A1B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9319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조건 함수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806440" y="3931920"/>
            <a:ext cx="5790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IF · CASE · IFNULL · COALESCE · NULLIF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4709160"/>
            <a:ext cx="11002975" cy="0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47091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44A1B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05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7091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NULL의 함정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806440" y="4709160"/>
            <a:ext cx="5790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NULL과 계산하면 결과도 NULL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00 · 함수 사용의 기본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단일행 함수 — 행마다 하나씩 계산한다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45920"/>
            <a:ext cx="67665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A44A1B"/>
                </a:solidFill>
              </a:rPr>
              <a:t>—  </a:t>
            </a:r>
            <a:pPr indent="0" marL="0">
              <a:buNone/>
            </a:pPr>
            <a:r>
              <a:rPr lang="en-US" sz="19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함수이름(입력값, …)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 → 결과값 하나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A44A1B"/>
                </a:solidFill>
              </a:rPr>
              <a:t>—  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30명 고객에 쓰면 </a:t>
            </a:r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30개의 결과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 (여러 행을 하나로 요약하는 집계 함수는 Ch04)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A44A1B"/>
                </a:solidFill>
              </a:rPr>
              <a:t>—  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원본 데이터는 </a:t>
            </a:r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바뀌지 않는다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 — 결과 화면에서만 가공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A44A1B"/>
                </a:solidFill>
              </a:rPr>
              <a:t>—  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처음 쓰는 함수는 </a:t>
            </a:r>
            <a:pPr indent="0" marL="0">
              <a:buNone/>
            </a:pPr>
            <a:r>
              <a:rPr lang="en-US" sz="19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함수(값);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으로 먼저 시험해 본다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A44A1B"/>
                </a:solidFill>
              </a:rPr>
              <a:t>—  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수업의 "오늘"은 </a:t>
            </a:r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'2026-06-30'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 — </a:t>
            </a:r>
            <a:pPr indent="0" marL="0">
              <a:buNone/>
            </a:pPr>
            <a:r>
              <a:rPr lang="en-US" sz="19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NOW()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·</a:t>
            </a:r>
            <a:pPr indent="0" marL="0">
              <a:buNone/>
            </a:pPr>
            <a:r>
              <a:rPr lang="en-US" sz="19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CURDATE()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는 실행할 때마다 달라짐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589520" y="1645920"/>
            <a:ext cx="0" cy="3291840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8120" y="1645920"/>
            <a:ext cx="37792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실무에서는 CURDATE()가 맞습니다.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리포트를 매일 돌려야 하니까요.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 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교안은 누가 언제 돌려도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같은 결과가 나와야 해서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고정값을 씁니다.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2194560"/>
            <a:ext cx="110029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문자열 함수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114800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CONCAT · SUBSTRING · REPLACE · LPAD · CHAR_LENGTH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01 · 문자열 함수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자주 쓰는 문자열 함수</a:t>
            </a:r>
            <a:endParaRPr lang="en-US" sz="30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1100297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3840480"/>
                <a:gridCol w="12161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함수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하는 일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예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결과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CONCAT(a, b, …)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이어 붙이기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CONCAT('[', '한식', ']')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[한식]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CONCAT_WS(구분자, …)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구분자 끼워 붙이기 (NULL 건너뜀)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CONCAT_WS('/', '부산', '서면')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부산/서면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CHAR_LENGTH(s)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글자 수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CHAR_LENGTH('돼지국밥')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LEFT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RIGHT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왼쪽·오른쪽 n글자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LEFT('010-2841-5523', 3)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SUBSTRING(s, 시작, 길이)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중간 자르기 (위치는 1부터)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SUBSTRING('010-2841-5523', 5, 4)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2841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SUBSTRING_INDEX(s, 구분자, n)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구분자 기준 조각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SUBSTRING_INDEX('a@naver.com', '@', -1)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naver.com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REPLACE(s, 찾을, 바꿀)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바꾸기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REPLACE('010-1234', '-', '')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0101234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LPAD(s, 길이, 문자)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왼쪽 채우기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LPAD(7, 5, '0')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00007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01 · 문자열 함수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붙이기 — 앱 화면용 가게 이름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162763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CONCAT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'['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'] '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display_name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CONCAT_WS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 · '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district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tag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restaurants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restaurant_id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20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594360" y="3547872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15행 중 5행</a:t>
            </a:r>
            <a:endParaRPr lang="en-US" sz="1100" dirty="0"/>
          </a:p>
        </p:txBody>
      </p:sp>
      <p:graphicFrame>
        <p:nvGraphicFramePr>
          <p:cNvPr id="8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840480"/>
          <a:ext cx="11002975" cy="914400"/>
        </p:xfrm>
        <a:graphic>
          <a:graphicData uri="http://schemas.openxmlformats.org/drawingml/2006/table">
            <a:tbl>
              <a:tblPr/>
              <a:tblGrid>
                <a:gridCol w="6639726"/>
                <a:gridCol w="4363249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display_name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tag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[한식] 서면옛날돼지국밥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부산진구 · 한식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[일식] 전포카츠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부산진구 · 일식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[한식] 해운대명가밀면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해운대구 · 한식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[피자] 광안리화덕피자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수영구 · 피자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[중식] 남천동마라공방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수영구 · 중식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01 · 문자열 함수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글자 수 vs 바이트 수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5852160" cy="170764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5449824" cy="14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CHAR_LENGTH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char_count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LENGTH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byte_count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menus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CHAR_LENGTH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menu_id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7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6858000" y="1645920"/>
            <a:ext cx="4739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70행 중 5행</a:t>
            </a:r>
            <a:endParaRPr lang="en-US" sz="1100" dirty="0"/>
          </a:p>
        </p:txBody>
      </p:sp>
      <p:graphicFrame>
        <p:nvGraphicFramePr>
          <p:cNvPr id="9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938528"/>
          <a:ext cx="4739335" cy="914400"/>
        </p:xfrm>
        <a:graphic>
          <a:graphicData uri="http://schemas.openxmlformats.org/drawingml/2006/table">
            <a:tbl>
              <a:tblPr/>
              <a:tblGrid>
                <a:gridCol w="2145669"/>
                <a:gridCol w="1296833"/>
                <a:gridCol w="1296833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char_count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byte_count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동래 막걸리 750ml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모둠 초밥 (12pc)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연어 초밥 (10pc)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부산 어묵 (3꼬치)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23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특선 오마카세 도시락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29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4239768"/>
            <a:ext cx="11002975" cy="2023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한글은 utf8mb4에서 글자당 3바이트.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사람이 세는 글자 수는 CHAR_LENGTH.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01 · 문자열 함수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자르기 — 전화번호 가운데 가리기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162763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phone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CONCAT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LEFT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phone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'****'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RIGHT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phone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masked_phone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customers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20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594360" y="3547872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30행 중 4행</a:t>
            </a:r>
            <a:endParaRPr lang="en-US" sz="1100" dirty="0"/>
          </a:p>
        </p:txBody>
      </p:sp>
      <p:graphicFrame>
        <p:nvGraphicFramePr>
          <p:cNvPr id="10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840480"/>
          <a:ext cx="11002975" cy="914400"/>
        </p:xfrm>
        <a:graphic>
          <a:graphicData uri="http://schemas.openxmlformats.org/drawingml/2006/table">
            <a:tbl>
              <a:tblPr/>
              <a:tblGrid>
                <a:gridCol w="1892231"/>
                <a:gridCol w="4555372"/>
                <a:gridCol w="4555372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phone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masked_phone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김민준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010-2841-5523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010-****-5523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이서연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010-3392-1187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010-****-1187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박지훈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010-4410-7762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010-****-7762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최수아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010-5527-3018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010-****-3018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5758180"/>
            <a:ext cx="1100297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010-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+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****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+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-5523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. 자릿수가 고정(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CHAR(13)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)된 형식이라 가능한 방법입니다.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01 · 문자열 함수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이메일을 계정과 도메인으로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178765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SUBSTRING_INDEX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'@'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account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SUBSTRING_INDEX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'@'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domain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customers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8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594360" y="3707892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24행 중 5행</a:t>
            </a:r>
            <a:endParaRPr lang="en-US" sz="1100" dirty="0"/>
          </a:p>
        </p:txBody>
      </p:sp>
      <p:graphicFrame>
        <p:nvGraphicFramePr>
          <p:cNvPr id="11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000500"/>
          <a:ext cx="11002975" cy="914400"/>
        </p:xfrm>
        <a:graphic>
          <a:graphicData uri="http://schemas.openxmlformats.org/drawingml/2006/table">
            <a:tbl>
              <a:tblPr/>
              <a:tblGrid>
                <a:gridCol w="5629429"/>
                <a:gridCol w="3070598"/>
                <a:gridCol w="2302948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email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account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domain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chaewon.hong@naver.com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chaewon.hong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naver.com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dain.jung@daum.net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dain.jung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daum.net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dohyun.lim@gmail.com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dohyun.lim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gmail.com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doyun.kang@gmail.com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doyun.kang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gmail.com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haeun.kang@naver.com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haeun.kang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naver.com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2194560"/>
            <a:ext cx="110029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숫자 함수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114800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ROUND · TRUNCATE · CEIL · FLOOR · DIV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 · 숫자 함수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같은 15% 할인, 100원씩 다른 결과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2075688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0.85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    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raw_price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ROUND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0.85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rounded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TRUNCATE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0.85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truncated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menus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restaurant_id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8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594360" y="399592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4행 중 2행</a:t>
            </a:r>
            <a:endParaRPr lang="en-US" sz="1100" dirty="0"/>
          </a:p>
        </p:txBody>
      </p:sp>
      <p:graphicFrame>
        <p:nvGraphicFramePr>
          <p:cNvPr id="13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288536"/>
          <a:ext cx="11002975" cy="914400"/>
        </p:xfrm>
        <a:graphic>
          <a:graphicData uri="http://schemas.openxmlformats.org/drawingml/2006/table">
            <a:tbl>
              <a:tblPr/>
              <a:tblGrid>
                <a:gridCol w="3399293"/>
                <a:gridCol w="1341826"/>
                <a:gridCol w="2236377"/>
                <a:gridCol w="1789102"/>
                <a:gridCol w="2236377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price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raw_price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rounded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truncated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모둠 초밥 (12pc)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22000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18700.00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18700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18700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미소 된장국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2550.00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2600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2500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5530596"/>
            <a:ext cx="11002975" cy="733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음수 자릿수 = 정수 단위. 요청서에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반올림/버림/올림과 단위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가 없으면 반드시 되묻습니다.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 · 숫자 함수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나눗셈 — / 와 DIV 는 다르다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2075688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per_person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CEIL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per_person_ceil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DIV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per_person_div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menus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LIKE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'%2인%'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8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594360" y="399592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1행</a:t>
            </a:r>
            <a:endParaRPr lang="en-US" sz="1100" dirty="0"/>
          </a:p>
        </p:txBody>
      </p:sp>
      <p:graphicFrame>
        <p:nvGraphicFramePr>
          <p:cNvPr id="14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288536"/>
          <a:ext cx="11002975" cy="914400"/>
        </p:xfrm>
        <a:graphic>
          <a:graphicData uri="http://schemas.openxmlformats.org/drawingml/2006/table">
            <a:tbl>
              <a:tblPr/>
              <a:tblGrid>
                <a:gridCol w="2344896"/>
                <a:gridCol w="1082260"/>
                <a:gridCol w="1984143"/>
                <a:gridCol w="2886026"/>
                <a:gridCol w="2705650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price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per_person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per_person_ceil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per_person_div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마라샹궈 (2인)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27000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13500.0000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13500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13500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5192776"/>
            <a:ext cx="11002975" cy="107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MySQL에서 정수 ÷ 정수는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소수 결과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. 몫만 원하면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DIV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. Java의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 / 2 = 3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과 다릅니다.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2194560"/>
            <a:ext cx="110029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날짜·시간 함수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114800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꺼내기 · 형식 · 차이 · 더하기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03 · 날짜 함수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꺼내기 — '2026-06-30 18:47:07' 기준</a:t>
            </a:r>
            <a:endParaRPr lang="en-US" sz="3000" dirty="0"/>
          </a:p>
        </p:txBody>
      </p:sp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1100297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200400"/>
                <a:gridCol w="414223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함수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결과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주의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DATE(dt)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2026-06-30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시각 제거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YEAR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·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MONTH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·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DAY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 · 6 · 30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HOUR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·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MINUTE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18 · 47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DAYOFWEEK(dt)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 = 일요일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… 7 = 토요일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WEEKDAY(dt)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 = 월요일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… 6 = 일요일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LAST_DAY(d)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2026-06-30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그 달의 마지막 날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03 · 날짜 함수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DATE_FORMAT 기호</a:t>
            </a:r>
            <a:endParaRPr lang="en-US" sz="3000" dirty="0"/>
          </a:p>
        </p:txBody>
      </p:sp>
      <p:graphicFrame>
        <p:nvGraphicFramePr>
          <p:cNvPr id="1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1100297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114800"/>
                <a:gridCol w="368503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기호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뜻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예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%Y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%y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연도 4자리 / 2자리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 / 26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%m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%c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월 2자리 / 앞 0 없이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06 / 6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%d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%e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일 2자리 / 앞 0 없이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30 / 30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%H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·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%i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·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%s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시(24h) ·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분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· 초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18 · 47 · 07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%M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월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이름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(분이 아님!)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June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ption"/>
          <p:cNvSpPr txBox="1"/>
          <p:nvPr/>
        </p:nvSpPr>
        <p:spPr>
          <a:xfrm>
            <a:off x="594360" y="5102352"/>
            <a:ext cx="11002975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분은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%i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.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%M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을 쓰면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18:June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이 나옵니다 — 가장 흔한 실수.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03 · 날짜 함수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DATE_FORMAT — 원하는 모양으로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2075688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order_id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DATE_FORMAT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ordered_at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'%Y-%m-%d'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order_date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DATE_FORMAT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ordered_at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'%c월 %e일 %H:%i'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display_time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DATE_FORMAT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ordered_at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'%Y-%m'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order_month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orders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order_id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8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594360" y="399592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563행 중 2행</a:t>
            </a:r>
            <a:endParaRPr lang="en-US" sz="1100" dirty="0"/>
          </a:p>
        </p:txBody>
      </p:sp>
      <p:graphicFrame>
        <p:nvGraphicFramePr>
          <p:cNvPr id="18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288536"/>
          <a:ext cx="11002975" cy="914400"/>
        </p:xfrm>
        <a:graphic>
          <a:graphicData uri="http://schemas.openxmlformats.org/drawingml/2006/table">
            <a:tbl>
              <a:tblPr/>
              <a:tblGrid>
                <a:gridCol w="2171640"/>
                <a:gridCol w="2654226"/>
                <a:gridCol w="3281589"/>
                <a:gridCol w="2895520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order_id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order_date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display_time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order_month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563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2026-06-30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6월 30일 18:47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562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2026-06-30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6월 30일 18:09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5530596"/>
            <a:ext cx="11002975" cy="733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'%Y-%m'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은 Ch04에서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월별 집계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의 핵심 도구가 됩니다.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03 · 날짜 함수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배달 소요 시간 — TIMESTAMPDIFF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178765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order_id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ordered_at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delivered_at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TIMESTAMPDIFF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MINUTE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ordered_at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delivered_at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delivery_minutes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orders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'배달완료'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delivery_minutes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order_id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8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594360" y="3707892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511행 중 3행</a:t>
            </a:r>
            <a:endParaRPr lang="en-US" sz="1100" dirty="0"/>
          </a:p>
        </p:txBody>
      </p:sp>
      <p:graphicFrame>
        <p:nvGraphicFramePr>
          <p:cNvPr id="19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000500"/>
          <a:ext cx="11002975" cy="914400"/>
        </p:xfrm>
        <a:graphic>
          <a:graphicData uri="http://schemas.openxmlformats.org/drawingml/2006/table">
            <a:tbl>
              <a:tblPr/>
              <a:tblGrid>
                <a:gridCol w="1547293"/>
                <a:gridCol w="3266508"/>
                <a:gridCol w="3266508"/>
                <a:gridCol w="2922665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order_id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ordered_at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delivered_at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delivery_minutes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2026-01-17 17:38:19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2026-01-17 18:55:08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414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2026-05-21 08:14:14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2026-05-21 09:31:02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191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2026-03-14 12:27:11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2026-03-14 13:39:17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5580380"/>
            <a:ext cx="11002975" cy="68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⚠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DATEDIFF(끝, 시작)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과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TIMESTAMPDIFF(단위, 시작, 끝)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은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인자 순서가 반대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입니다.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03 · 날짜 함수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가입 경과일과 만 나이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2075688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joined_at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DATEDIFF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'2026-06-30'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joined_at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days_since_join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birth_date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TIMESTAMPDIFF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YEAR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birth_date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'2026-06-30'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customers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customer_id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8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594360" y="399592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30행 중 2행</a:t>
            </a:r>
            <a:endParaRPr lang="en-US" sz="1100" dirty="0"/>
          </a:p>
        </p:txBody>
      </p:sp>
      <p:graphicFrame>
        <p:nvGraphicFramePr>
          <p:cNvPr id="20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288536"/>
          <a:ext cx="11002975" cy="914400"/>
        </p:xfrm>
        <a:graphic>
          <a:graphicData uri="http://schemas.openxmlformats.org/drawingml/2006/table">
            <a:tbl>
              <a:tblPr/>
              <a:tblGrid>
                <a:gridCol w="1072492"/>
                <a:gridCol w="3773584"/>
                <a:gridCol w="3177755"/>
                <a:gridCol w="2184706"/>
                <a:gridCol w="794439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joined_at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days_since_join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birth_date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age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김민준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2023-04-02 14:21:07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1185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1994-03-12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이서연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2023-06-18 09:47:51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1108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1998-07-25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27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5530596"/>
            <a:ext cx="11002975" cy="733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TIMESTAMPDIFF(YEAR, …)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는 생일이 지났는지까지 따집니다.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YEAR() - YEAR()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는 생일 전인 사람을 한 살 많게 계산.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03 · 날짜 함수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더하고 빼기 — DATE_ADD · DATE_SUB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178765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joined_at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DATE_ADD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joined_at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INTERVAL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welcome_coupon_expires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DATE_SUB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'2026-06-30'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INTERVAL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MONTH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three_months_ago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customers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joined_at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'2026-01-01'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8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594360" y="3707892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3행</a:t>
            </a:r>
            <a:endParaRPr lang="en-US" sz="1100" dirty="0"/>
          </a:p>
        </p:txBody>
      </p:sp>
      <p:graphicFrame>
        <p:nvGraphicFramePr>
          <p:cNvPr id="21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000500"/>
          <a:ext cx="11002975" cy="914400"/>
        </p:xfrm>
        <a:graphic>
          <a:graphicData uri="http://schemas.openxmlformats.org/drawingml/2006/table">
            <a:tbl>
              <a:tblPr/>
              <a:tblGrid>
                <a:gridCol w="922610"/>
                <a:gridCol w="3246219"/>
                <a:gridCol w="3929634"/>
                <a:gridCol w="2904512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joined_at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welcome_coupon_expires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three_months_ago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최예준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2026-02-14 21:14:52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2026-03-16 21:14:52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2026-03-30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정다인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2026-04-05 10:31:19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2026-05-05 10:31:19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2026-03-30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윤서아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2026-06-28 16:20:03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2026-07-28 16:20:03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2026-03-30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5580380"/>
            <a:ext cx="11002975" cy="68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INTERVAL 단위: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MINUTE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HOUR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WEEK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MONTH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YEAR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2194560"/>
            <a:ext cx="110029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조건 함수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114800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IF · CASE · IFNULL · COALESCE · NULLIF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04 · 조건 함수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CASE — 위에서부터 처음 참인 것 하나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2363724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2071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order_id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TIMESTAMPDIFF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MINUTE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ordered_at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delivered_at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minutes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TIMESTAMPDIFF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MINUTE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ordered_at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delivered_at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'빠름'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TIMESTAMPDIFF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MINUTE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ordered_at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delivered_at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60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'보통'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ELSE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'지연'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speed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orders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'배달완료'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AND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ordered_at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'2026-06-29'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4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594360" y="428396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5행 중 2행</a:t>
            </a:r>
            <a:endParaRPr lang="en-US" sz="1100" dirty="0"/>
          </a:p>
        </p:txBody>
      </p:sp>
      <p:graphicFrame>
        <p:nvGraphicFramePr>
          <p:cNvPr id="23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576572"/>
          <a:ext cx="11002975" cy="914400"/>
        </p:xfrm>
        <a:graphic>
          <a:graphicData uri="http://schemas.openxmlformats.org/drawingml/2006/table">
            <a:tbl>
              <a:tblPr/>
              <a:tblGrid>
                <a:gridCol w="4305512"/>
                <a:gridCol w="3827122"/>
                <a:gridCol w="2870341"/>
              </a:tblGrid>
              <a:tr h="3136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order_id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minutes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speed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556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45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보통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557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25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빠름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5746242"/>
            <a:ext cx="11002975" cy="517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30 이하는 이미 첫 줄에서 걸러졌으므로 둘째 줄에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30 AND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가 필요 없습니다.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조건의 순서가 곧 로직.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04 · 조건 함수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NULL 처리 함수</a:t>
            </a:r>
            <a:endParaRPr lang="en-US" sz="3000" dirty="0"/>
          </a:p>
        </p:txBody>
      </p:sp>
      <p:graphicFrame>
        <p:nvGraphicFramePr>
          <p:cNvPr id="2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1100297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291840"/>
                <a:gridCol w="45994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함수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결과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예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IFNULL(a, b)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a가 NULL이면 b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IFNULL(email, '(미등록)')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COALESCE(a, b, c, …)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처음으로 NULL이 아닌 값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COALESCE(email, phone)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NULLIF(a, b)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a = b 이면 NULL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10 / NULLIF(0, 0)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→ 0으로 나누기 방지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IF(조건, 참, 거짓)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둘 중 하나 (MySQL 전용)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IF(price &gt;= 20000, '고가', '일반')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04 · 조건 함수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IFNULL · COALESCE 로 빈 값 채우기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178765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IFNULL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'(미등록)'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email_display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COALESCE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phone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contact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customers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customer_id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8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594360" y="3707892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30행 중 5행</a:t>
            </a:r>
            <a:endParaRPr lang="en-US" sz="1100" dirty="0"/>
          </a:p>
        </p:txBody>
      </p:sp>
      <p:graphicFrame>
        <p:nvGraphicFramePr>
          <p:cNvPr id="25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000500"/>
          <a:ext cx="11002975" cy="914400"/>
        </p:xfrm>
        <a:graphic>
          <a:graphicData uri="http://schemas.openxmlformats.org/drawingml/2006/table">
            <a:tbl>
              <a:tblPr/>
              <a:tblGrid>
                <a:gridCol w="1547293"/>
                <a:gridCol w="1719215"/>
                <a:gridCol w="4011501"/>
                <a:gridCol w="3724966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email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email_display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contact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최수아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6B728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(미등록)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010-5527-3018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윤지아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6B728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(미등록)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010-9936-4407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신동욱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6B728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(미등록)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010-6481-7720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배수빈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6B728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(미등록)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010-3936-0058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김서준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6B728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(미등록)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010-8481-5579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05 · NULL의 함정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NULL이 섞이면 결과도 NULL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130759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10000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plus_null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CONCAT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'메일: '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concat_null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CONCAT_WS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 / '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'김민준'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'부산진구'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concat_ws_skip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20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594360" y="3227832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1행</a:t>
            </a:r>
            <a:endParaRPr lang="en-US" sz="1100" dirty="0"/>
          </a:p>
        </p:txBody>
      </p:sp>
      <p:graphicFrame>
        <p:nvGraphicFramePr>
          <p:cNvPr id="26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520440"/>
          <a:ext cx="11002975" cy="914400"/>
        </p:xfrm>
        <a:graphic>
          <a:graphicData uri="http://schemas.openxmlformats.org/drawingml/2006/table">
            <a:tbl>
              <a:tblPr/>
              <a:tblGrid>
                <a:gridCol w="2926323"/>
                <a:gridCol w="3511588"/>
                <a:gridCol w="4565064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plus_null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concat_null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concat_ws_skip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6B728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6B728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김민준 / 부산진구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4424680"/>
            <a:ext cx="11002975" cy="183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"모르는 값"과 계산하면 결과도 모릅니다.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CONCAT_WS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만 NULL을 건너뜁니다.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05 · NULL의 함정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아무 경고 없이 6명이 사라진다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5852160" cy="130759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544982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CONCAT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 &lt;'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'&gt;'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mail_to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customers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customer_id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5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6858000" y="1645920"/>
            <a:ext cx="4739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30행 중 4행</a:t>
            </a:r>
            <a:endParaRPr lang="en-US" sz="1100" dirty="0"/>
          </a:p>
        </p:txBody>
      </p:sp>
      <p:graphicFrame>
        <p:nvGraphicFramePr>
          <p:cNvPr id="27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938528"/>
          <a:ext cx="4739335" cy="914400"/>
        </p:xfrm>
        <a:graphic>
          <a:graphicData uri="http://schemas.openxmlformats.org/drawingml/2006/table">
            <a:tbl>
              <a:tblPr/>
              <a:tblGrid>
                <a:gridCol w="1909881"/>
                <a:gridCol w="2829454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mail_to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최수아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6B728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윤지아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6B728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신동욱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6B728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배수빈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6B728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3901948"/>
            <a:ext cx="11002975" cy="2361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이메일이 없는 고객은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이름까지 통째로 NULL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. 발송 목록을 만들 때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IFNULL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로 감싸거나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CONCAT_WS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를 쓰세요.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06 · WHERE와 ORDER BY에서도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함수는 어디서든 — 단, 성능 주의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4592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A44A1B"/>
                </a:solidFill>
              </a:rPr>
              <a:t>—  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WHERE · ORDER BY에도 함수를 쓸 수 있다: </a:t>
            </a:r>
            <a:pPr indent="0" marL="0">
              <a:buNone/>
            </a:pPr>
            <a:r>
              <a:rPr lang="en-US" sz="19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 DAYOFWEEK(ordered_at) IN (1, 7)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A44A1B"/>
                </a:solidFill>
              </a:rPr>
              <a:t>—  </a:t>
            </a:r>
            <a:pPr indent="0" marL="0">
              <a:buNone/>
            </a:pPr>
            <a:r>
              <a:rPr lang="en-US" sz="19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 MONTH(ordered_at) = 6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 도 결과는 맞다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</a:rPr>
              <a:t>      · </a:t>
            </a:r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하지만 열에 함수를 씌우면 그 열의 </a:t>
            </a:r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인덱스를 못 씀</a:t>
            </a:r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 → 데이터가 많으면 느림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A44A1B"/>
                </a:solidFill>
              </a:rPr>
              <a:t>—  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기간 조건은 Ch02처럼 </a:t>
            </a:r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범위로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: </a:t>
            </a:r>
            <a:pPr indent="0" marL="0">
              <a:buNone/>
            </a:pPr>
            <a:r>
              <a:rPr lang="en-US" sz="19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ordered_at &gt;= '2026-06-01' AND ordered_at &lt; '2026-07-01'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A44A1B"/>
                </a:solidFill>
              </a:rPr>
              <a:t>—  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이유는 Ch10에서 </a:t>
            </a:r>
            <a:pPr indent="0" marL="0">
              <a:buNone/>
            </a:pPr>
            <a:r>
              <a:rPr lang="en-US" sz="19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EXPLAIN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</a:rPr>
              <a:t>으로 직접 확인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오늘의 요청 해결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생일 쿠폰 문자 명단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274777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2455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CONCAT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LEFT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phone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'****'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RIGHT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phone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masked_phone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TIMESTAMPDIFF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YEAR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birth_date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'2026-06-30'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birth_date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'미입력'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ELSE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CONCAT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FLOOR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TIMESTAMPDIFF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YEAR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birth_date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'2026-06-30'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'대'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age_group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DATEDIFF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'2026-06-30'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joined_at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days_since_join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customers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customer_id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500" dirty="0"/>
          </a:p>
        </p:txBody>
      </p:sp>
      <p:sp>
        <p:nvSpPr>
          <p:cNvPr id="6" name="caption"/>
          <p:cNvSpPr txBox="1"/>
          <p:nvPr/>
        </p:nvSpPr>
        <p:spPr>
          <a:xfrm>
            <a:off x="594360" y="4668012"/>
            <a:ext cx="11002975" cy="159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나이대: 만 나이 34 → 34 / 10 = 3.4 →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FLOOR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3 → × 10 = 30 → '30대'. NULL 처리는 CASE의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맨 위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에.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오늘의 요청 해결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생일 쿠폰 문자 명단 — 실행 결과</a:t>
            </a:r>
            <a:endParaRPr lang="en-US" sz="3000" dirty="0"/>
          </a:p>
        </p:txBody>
      </p:sp>
      <p:sp>
        <p:nvSpPr>
          <p:cNvPr id="4" name="result-caption"/>
          <p:cNvSpPr txBox="1"/>
          <p:nvPr/>
        </p:nvSpPr>
        <p:spPr>
          <a:xfrm>
            <a:off x="594360" y="1645920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30행 중 10행</a:t>
            </a:r>
            <a:endParaRPr lang="en-US" sz="1100" dirty="0"/>
          </a:p>
        </p:txBody>
      </p:sp>
      <p:graphicFrame>
        <p:nvGraphicFramePr>
          <p:cNvPr id="30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38528"/>
          <a:ext cx="11002975" cy="914400"/>
        </p:xfrm>
        <a:graphic>
          <a:graphicData uri="http://schemas.openxmlformats.org/drawingml/2006/table">
            <a:tbl>
              <a:tblPr/>
              <a:tblGrid>
                <a:gridCol w="1227605"/>
                <a:gridCol w="2955345"/>
                <a:gridCol w="909337"/>
                <a:gridCol w="2273342"/>
                <a:gridCol w="3637347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masked_phone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age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age_group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days_since_join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김민준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010-****-5523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30대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1185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이서연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010-****-1187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27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20대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1108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박지훈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010-****-7762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30대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1036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최수아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010-****-3018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25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20대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848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정우진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010-****-9045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40대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1262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강하은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010-****-2290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29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20대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709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조현우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010-****-6631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34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30대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997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윤지아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010-****-4407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6B728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미입력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596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임도현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010-****-8813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35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30대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1148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한예린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010-****-2276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23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20대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485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6" name="caption"/>
          <p:cNvSpPr txBox="1"/>
          <p:nvPr/>
        </p:nvSpPr>
        <p:spPr>
          <a:xfrm>
            <a:off x="594360" y="5760720"/>
            <a:ext cx="11002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30명 전원이 나와야 정답 — 생일·이메일이 없는 고객이 빠지지 않았는지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행 수를 확인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하세요.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정리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오늘 배운 것</a:t>
            </a:r>
            <a:endParaRPr lang="en-US" sz="3000" dirty="0"/>
          </a:p>
        </p:txBody>
      </p:sp>
      <p:graphicFrame>
        <p:nvGraphicFramePr>
          <p:cNvPr id="3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110029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486400"/>
                <a:gridCol w="41422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분류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함수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기억할 점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문자열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CONCAT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LEFT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SUBSTRING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REPLACE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LPAD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CHAR_LENGTH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위치는 1부터, 글자 수는 CHAR_LENGTH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숫자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ROUND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TRUNCATE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CEIL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FLOOR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DIV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음수 자릿수 = 정수 단위, 단위는 확인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날짜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DATE_FORMAT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DATEDIFF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TIMESTAMPDIFF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DATE_ADD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%i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= 분, 두 DIFF는 인자 순서 반대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조건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IF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CASE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IFNULL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COALESCE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NULLIF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CASE는 처음 참인 것, ELSE 빼면 NULL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—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NULL과 계산하면 NULL, CONCAT도 NULL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실습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practice.md — 데이터 가공하기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4592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이메일 도메인 현황 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긴 메뉴명 점검 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가게 카드 문구 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할인가 계산 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주문 코드 만들기 ★★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지연 배달 리스트 ★★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64592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CASE 순서의 함정 ★★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주말 주문 건수 ★★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가입 연차 구분 ★★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낮은 별점 리뷰 ★★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영업 상태 판정 ★★★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웰컴 쿠폰 만료일 ★★★</a:t>
            </a:r>
            <a:endParaRPr lang="en-US" sz="2000" dirty="0"/>
          </a:p>
        </p:txBody>
      </p:sp>
      <p:sp>
        <p:nvSpPr>
          <p:cNvPr id="6" name="caption"/>
          <p:cNvSpPr txBox="1"/>
          <p:nvPr/>
        </p:nvSpPr>
        <p:spPr>
          <a:xfrm>
            <a:off x="594360" y="557784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오늘 날짜는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'2026-06-30'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.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NOW()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·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CURDATE()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를 쓰면 기대 결과와 달라집니다.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08A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시간 · Ch04 집계와 그룹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109728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563건을 한 장의 리포트로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A4F"/>
                </a:solidFill>
              </a:rPr>
              <a:t>From. 정산팀 정 대리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517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상반기 결산입니다.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월별 주문 건수·취소율·배달팁 합계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와,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배달 완료 건수가 많은 가게 순위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를 주세요.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84632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5CAD3"/>
                </a:solidFill>
              </a:rPr>
              <a:t>지금까지는 행 하나 → 행 하나. 563건을 </a:t>
            </a:r>
            <a:pPr indent="0" marL="0">
              <a:buNone/>
            </a:pPr>
            <a:r>
              <a:rPr lang="en-US" sz="1700" b="1" dirty="0">
                <a:solidFill>
                  <a:srgbClr val="C5CAD3"/>
                </a:solidFill>
              </a:rPr>
              <a:t>6줄(월별)</a:t>
            </a:r>
            <a:pPr indent="0" marL="0">
              <a:buNone/>
            </a:pPr>
            <a:r>
              <a:rPr lang="en-US" sz="1700" dirty="0">
                <a:solidFill>
                  <a:srgbClr val="C5CAD3"/>
                </a:solidFill>
              </a:rPr>
              <a:t>로 요약하려면 행을 </a:t>
            </a:r>
            <a:pPr indent="0" marL="0">
              <a:buNone/>
            </a:pPr>
            <a:r>
              <a:rPr lang="en-US" sz="1700" b="1" dirty="0">
                <a:solidFill>
                  <a:srgbClr val="C5CAD3"/>
                </a:solidFill>
              </a:rPr>
              <a:t>묶어서</a:t>
            </a:r>
            <a:pPr indent="0" marL="0">
              <a:buNone/>
            </a:pPr>
            <a:r>
              <a:rPr lang="en-US" sz="1700" dirty="0">
                <a:solidFill>
                  <a:srgbClr val="C5CAD3"/>
                </a:solidFill>
              </a:rPr>
              <a:t> 계산해야 합니다 — Ch04.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kyong Thesis">
  <a:themeElements>
    <a:clrScheme name="Pukyong Thesis">
      <a:dk1>
        <a:srgbClr val="1F2937"/>
      </a:dk1>
      <a:lt1>
        <a:srgbClr val="F4F2EE"/>
      </a:lt1>
      <a:dk2>
        <a:srgbClr val="1B2130"/>
      </a:dk2>
      <a:lt2>
        <a:srgbClr val="EAE6DF"/>
      </a:lt2>
      <a:accent1>
        <a:srgbClr val="A44A1B"/>
      </a:accent1>
      <a:accent2>
        <a:srgbClr val="E08A4F"/>
      </a:accent2>
      <a:accent3>
        <a:srgbClr val="8DB3E8"/>
      </a:accent3>
      <a:accent4>
        <a:srgbClr val="2F6B4F"/>
      </a:accent4>
      <a:accent5>
        <a:srgbClr val="6B7280"/>
      </a:accent5>
      <a:accent6>
        <a:srgbClr val="D6D1C7"/>
      </a:accent6>
      <a:hlink>
        <a:srgbClr val="A44A1B"/>
      </a:hlink>
      <a:folHlink>
        <a:srgbClr val="6B7280"/>
      </a:folHlink>
    </a:clrScheme>
    <a:fontScheme name="Pukyong Thesis">
      <a:majorFont>
        <a:latin typeface="Gowun Batang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Korea IT Academy Busan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Ch03. 함수로 데이터 가공하기</dc:title>
  <dc:subject>PptxGenJS Presentation</dc:subject>
  <dc:creator>김준일</dc:creator>
  <cp:lastModifiedBy>김준일</cp:lastModifiedBy>
  <cp:revision>1</cp:revision>
  <dcterms:created xsi:type="dcterms:W3CDTF">2026-10-29T02:23:31Z</dcterms:created>
  <dcterms:modified xsi:type="dcterms:W3CDTF">2026-10-29T02:23:31Z</dcterms:modified>
</cp:coreProperties>
</file>