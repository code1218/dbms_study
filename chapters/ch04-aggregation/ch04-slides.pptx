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481b0a0-05b6-b475-e4a0-40b9eeaaf278}">
          <p14:sldIdLst>
            <p14:sldId id="256"/>
            <p14:sldId id="257"/>
            <p14:sldId id="258"/>
          </p14:sldIdLst>
        </p14:section>
        <p14:section name="집계 함수" id="{a716b360-a548-d7d4-cf84-5bdab5abf751}">
          <p14:sldIdLst>
            <p14:sldId id="259"/>
            <p14:sldId id="260"/>
            <p14:sldId id="261"/>
            <p14:sldId id="262"/>
            <p14:sldId id="263"/>
          </p14:sldIdLst>
        </p14:section>
        <p14:section name="GROUP BY" id="{2b93a95b-918b-706b-da18-1df99913e148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WHERE vs HAVING" id="{bd1fe68a-5211-4507-b1f6-080461b0f939}">
          <p14:sldIdLst>
            <p14:sldId id="270"/>
            <p14:sldId id="271"/>
            <p14:sldId id="272"/>
            <p14:sldId id="273"/>
          </p14:sldIdLst>
        </p14:section>
        <p14:section name="조건부 집계" id="{3cc56da8-6b7b-a508-6247-6d72d3f52835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마무리" id="{a6559ea6-fb87-53e6-48ea-6ee86ea6767f}">
          <p14:sldIdLst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828800"/>
            <a:ext cx="11002975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5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389120"/>
            <a:ext cx="1100297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5CAD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/>
        </p:nvSpPr>
        <p:spPr>
          <a:xfrm>
            <a:off x="5943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Korea IT Academy Busan · 강사 김준일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EA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943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Ch04 · 집계와 그룹 — 563건을 한 장의 리포트로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097280"/>
            <a:ext cx="1100297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MySQL 30시간 · CHAPTER 04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828800"/>
            <a:ext cx="110029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집계와 그룹</a:t>
            </a:r>
            <a:endParaRPr lang="en-US" sz="5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563건을 한 장의 리포트로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38912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5CAD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DB · hanip_delivery04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요청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상반기 결산 회의 자료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From. 정산팀 정 대리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94560"/>
            <a:ext cx="105457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월별로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 전체 주문 수, 배달 완료 수, 취소 수,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취소율(%)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,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배달 완료 주문의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배달팁 합계 · 쿠폰 할인 합계 · 평균 배달 시간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을 한 표로 주세요.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그리고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배달 완료 건수 Top 5 가게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도요.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512064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525780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지금까지는 행 하나 → 행 하나. 오늘은 </a:t>
            </a:r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563행 → 6행</a:t>
            </a:r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. 여러 행을 묶어서 하나로 요약합니다.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목차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오늘 배울 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600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집계 함수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160020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COUNT 세 가지 · SUM · AVG · MIN · MAX와 NULL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77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377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GROUP BY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237744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열 · 여러 열 · 식(월, 시간대)으로 묶기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315468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1546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1546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1055 에러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315468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GROUP BY의 SELECT 규칙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93192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319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WHERE vs HAVING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393192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행을 거를까, 그룹을 거를까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4709160"/>
            <a:ext cx="11002975" cy="0"/>
          </a:xfrm>
          <a:prstGeom prst="line">
            <a:avLst/>
          </a:prstGeom>
          <a:noFill/>
          <a:ln w="9525">
            <a:solidFill>
              <a:srgbClr val="D6D1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4709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44A1B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7091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조건부 집계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4709160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SUM(CASE …)로 한 쿼리에 여러 지표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집계 함수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여러 행을 모아 </a:t>
            </a:r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하나</a:t>
            </a:r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집계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70개 메뉴가 한 줄이 된다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2075688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menu_count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min_price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max_price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price_sum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price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avg_price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menus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995928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1행</a:t>
            </a:r>
            <a:endParaRPr lang="en-US" sz="1100" dirty="0"/>
          </a:p>
        </p:txBody>
      </p:sp>
      <p:graphicFrame>
        <p:nvGraphicFramePr>
          <p:cNvPr id="6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288536"/>
          <a:ext cx="11002975" cy="914400"/>
        </p:xfrm>
        <a:graphic>
          <a:graphicData uri="http://schemas.openxmlformats.org/drawingml/2006/table">
            <a:tbl>
              <a:tblPr/>
              <a:tblGrid>
                <a:gridCol w="2373191"/>
                <a:gridCol w="2157446"/>
                <a:gridCol w="2157446"/>
                <a:gridCol w="2157446"/>
                <a:gridCol w="2157446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menu_count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min_price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max_price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price_sum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avg_price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45000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828800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11840.0000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192776"/>
            <a:ext cx="11002975" cy="107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단일행 함수(Ch03)는 30행 → 30행, 집계 함수는 GROUP BY가 없으면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항상 1행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집계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COUNT의 세 가지 얼굴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37760"/>
                <a:gridCol w="222199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세는 것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customers에서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COUNT(*)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행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수 (NULL 여부 무관)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COUNT(email)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그 열이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NULL이 아닌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행 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24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COUNT(DISTINCT district)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NULL이 아닌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서로 다른 값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의 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ption"/>
          <p:cNvSpPr txBox="1"/>
          <p:nvPr/>
        </p:nvSpPr>
        <p:spPr>
          <a:xfrm>
            <a:off x="594360" y="4480560"/>
            <a:ext cx="11002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"고객 수"를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COUNT(email)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로 세면 24명이 됩니다. 무엇을 세는지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별칭에 드러나게.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집계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집계 함수는 NULL을 건너뛴다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62763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delivered_at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ROUND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TIMESTAMPDIFF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MINUTE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delivered_at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avg_minutes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TIMESTAMPDIFF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MINUTE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delivered_at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max_minutes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547872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1행</a:t>
            </a:r>
            <a:endParaRPr lang="en-US" sz="1100" dirty="0"/>
          </a:p>
        </p:txBody>
      </p:sp>
      <p:graphicFrame>
        <p:nvGraphicFramePr>
          <p:cNvPr id="8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840480"/>
          <a:ext cx="11002975" cy="914400"/>
        </p:xfrm>
        <a:graphic>
          <a:graphicData uri="http://schemas.openxmlformats.org/drawingml/2006/table">
            <a:tbl>
              <a:tblPr/>
              <a:tblGrid>
                <a:gridCol w="1878557"/>
                <a:gridCol w="2683652"/>
                <a:gridCol w="3220383"/>
                <a:gridCol w="3220383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orders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delivered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avg_minutes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max_minutes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563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511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33.6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4744720"/>
            <a:ext cx="11002975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취소·진행 중 주문은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delivered_at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이 NULL → AVG에서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자동으로 빠짐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 "없으면 0으로 쳐야" 하는 지표라면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IFNULL(열, 0)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후 집계.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집계 함수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대상이 0행이면 — COUNT는 0, SUM은 NULL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78765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delivery_fee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fee_sum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IFNULL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delivery_fee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fee_sum_safe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restaurant_id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-- 6일 전 입점, 주문 0건</a:t>
            </a:r>
            <a:endParaRPr lang="en-US" sz="18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3707892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1행</a:t>
            </a:r>
            <a:endParaRPr lang="en-US" sz="1100" dirty="0"/>
          </a:p>
        </p:txBody>
      </p:sp>
      <p:graphicFrame>
        <p:nvGraphicFramePr>
          <p:cNvPr id="9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000500"/>
          <a:ext cx="11002975" cy="914400"/>
        </p:xfrm>
        <a:graphic>
          <a:graphicData uri="http://schemas.openxmlformats.org/drawingml/2006/table">
            <a:tbl>
              <a:tblPr/>
              <a:tblGrid>
                <a:gridCol w="2750744"/>
                <a:gridCol w="3143707"/>
                <a:gridCol w="5108524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orders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fee_sum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fee_sum_safe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6B728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4904740"/>
            <a:ext cx="11002975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리포트에 "NULL원"이 찍히지 않도록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IFNULL(SUM(…), 0)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습관.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GROUP BY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값이 같은 행끼리 묶고, 묶음마다 집계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GROUP BY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묶어서 요약한다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739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 (15행)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category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서면옛날돼지국밥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해운대명가밀면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동래파전골목집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전포카츠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일식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해운대스시하루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일식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…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…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3108960"/>
            <a:ext cx="1371600" cy="0"/>
          </a:xfrm>
          <a:prstGeom prst="line">
            <a:avLst/>
          </a:prstGeom>
          <a:noFill/>
          <a:ln w="22225">
            <a:solidFill>
              <a:srgbClr val="A44A1B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0" y="27614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44A1B"/>
                </a:solidFill>
              </a:rPr>
              <a:t>GROUP BY category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177393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결과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103120"/>
          <a:ext cx="40965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848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category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COUNT(*)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일식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치킨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…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44A1B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…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aption"/>
          <p:cNvSpPr txBox="1"/>
          <p:nvPr/>
        </p:nvSpPr>
        <p:spPr>
          <a:xfrm>
            <a:off x="594360" y="5120640"/>
            <a:ext cx="110029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한식 묶음 3행 → 결과 1행. 묶음마다 집계 함수를 계산합니다.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GROUP BY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업종별 가게 수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170764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restaurant_count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restaurant_count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7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8행</a:t>
            </a:r>
            <a:endParaRPr lang="en-US" sz="1100" dirty="0"/>
          </a:p>
        </p:txBody>
      </p:sp>
      <p:graphicFrame>
        <p:nvGraphicFramePr>
          <p:cNvPr id="12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1755309"/>
                <a:gridCol w="2984026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category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restaurant_count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분식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양식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일식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중식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치킨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카페·디저트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피자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GROUP BY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식으로 묶기 — 월별 주문 수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2363724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2071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DATE_FORMAT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'%Y-%m'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order_month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order_count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order_month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order_month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6행</a:t>
            </a:r>
            <a:endParaRPr lang="en-US" sz="1100" dirty="0"/>
          </a:p>
        </p:txBody>
      </p:sp>
      <p:graphicFrame>
        <p:nvGraphicFramePr>
          <p:cNvPr id="13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2369668"/>
                <a:gridCol w="2369668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order_month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order_count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2026-04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4577588"/>
            <a:ext cx="11002975" cy="168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Ch03의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DATE_FORMAT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이 여기서 빛납니다.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가공한 값으로 그룹을 나눌 수 있습니다.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GROUP BY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시간대별 주문 — 배달앱의 리듬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2075688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HOUR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order_hour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order_count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order_hour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order_count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6행</a:t>
            </a:r>
            <a:endParaRPr lang="en-US" sz="1100" dirty="0"/>
          </a:p>
        </p:txBody>
      </p:sp>
      <p:graphicFrame>
        <p:nvGraphicFramePr>
          <p:cNvPr id="14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2266639"/>
                <a:gridCol w="2472697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order_hour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order_count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58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54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4577588"/>
            <a:ext cx="11002975" cy="168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저녁(17~20시)과 점심(11~13시)에 몰립니다. 운영팀은 이 표로 시간대별 기사 배치를 정합니다.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· 1055 에러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GROUP BY가 있으면 SELECT에는 무엇이 올 수 있나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✗ 그룹 안의 이름이 3개인데 무엇을?</a:t>
            </a:r>
            <a:endParaRPr lang="en-US" sz="1600" dirty="0"/>
          </a:p>
        </p:txBody>
      </p:sp>
      <p:sp>
        <p:nvSpPr>
          <p:cNvPr id="5" name="code-bg"/>
          <p:cNvSpPr/>
          <p:nvPr/>
        </p:nvSpPr>
        <p:spPr>
          <a:xfrm>
            <a:off x="594360" y="2039112"/>
            <a:ext cx="5272888" cy="1019556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6" name="code"/>
          <p:cNvSpPr txBox="1"/>
          <p:nvPr/>
        </p:nvSpPr>
        <p:spPr>
          <a:xfrm>
            <a:off x="795528" y="2185416"/>
            <a:ext cx="4870552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400" dirty="0"/>
          </a:p>
        </p:txBody>
      </p:sp>
      <p:sp>
        <p:nvSpPr>
          <p:cNvPr id="7" name="error"/>
          <p:cNvSpPr txBox="1"/>
          <p:nvPr/>
        </p:nvSpPr>
        <p:spPr>
          <a:xfrm>
            <a:off x="594360" y="3287268"/>
            <a:ext cx="5272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2318"/>
                </a:solidFill>
              </a:rPr>
              <a:t>▶ 실행 결과 · 에러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B423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 Code: 1055. Expression #2 of SELECT list is not in GROUP BY clause and contains nonaggregated column …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24448" y="160020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의도: 이름을 전부 → GROUP_CONCAT</a:t>
            </a:r>
            <a:endParaRPr lang="en-US" sz="1600" dirty="0"/>
          </a:p>
        </p:txBody>
      </p:sp>
      <p:sp>
        <p:nvSpPr>
          <p:cNvPr id="9" name="code-bg"/>
          <p:cNvSpPr/>
          <p:nvPr/>
        </p:nvSpPr>
        <p:spPr>
          <a:xfrm>
            <a:off x="6324448" y="2039112"/>
            <a:ext cx="5272888" cy="146761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10" name="code"/>
          <p:cNvSpPr txBox="1"/>
          <p:nvPr/>
        </p:nvSpPr>
        <p:spPr>
          <a:xfrm>
            <a:off x="6525616" y="2185416"/>
            <a:ext cx="4870552" cy="117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GROUP_CONCAT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SEPARATOR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', '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400" dirty="0"/>
          </a:p>
        </p:txBody>
      </p:sp>
      <p:sp>
        <p:nvSpPr>
          <p:cNvPr id="11" name="result-caption"/>
          <p:cNvSpPr txBox="1"/>
          <p:nvPr/>
        </p:nvSpPr>
        <p:spPr>
          <a:xfrm>
            <a:off x="6324448" y="3735324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8행 중 3행</a:t>
            </a:r>
            <a:endParaRPr lang="en-US" sz="1100" dirty="0"/>
          </a:p>
        </p:txBody>
      </p:sp>
      <p:graphicFrame>
        <p:nvGraphicFramePr>
          <p:cNvPr id="15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8" y="4027932"/>
          <a:ext cx="5272888" cy="914400"/>
        </p:xfrm>
        <a:graphic>
          <a:graphicData uri="http://schemas.openxmlformats.org/drawingml/2006/table">
            <a:tbl>
              <a:tblPr/>
              <a:tblGrid>
                <a:gridCol w="895396"/>
                <a:gridCol w="397954"/>
                <a:gridCol w="3979538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category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cnt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names</a:t>
                      </a:r>
                      <a:endParaRPr lang="en-US" sz="11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서면옛날돼지국밥, 해운대명가밀면, 동래파전골목집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분식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남포동떡볶이연구소, 장전동든든김밥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양식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하단버거스탠드, 전포동오일파스타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13" name="caption"/>
          <p:cNvSpPr txBox="1"/>
          <p:nvPr/>
        </p:nvSpPr>
        <p:spPr>
          <a:xfrm>
            <a:off x="594360" y="5460492"/>
            <a:ext cx="11002975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규칙: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GROUP BY에 쓴 열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또는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집계 함수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만. 오래된 MySQL은 아무 이름이나 골라 줬지만 MySQL 8은 거부합니다. 설정을 끄지 말고 쿼리를 고치세요.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WHERE vs HAVING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행을 거를까, 그룹을 거를까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· WHERE vs HAVING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실행 순서에 ③④가 채워진다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600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945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① FROM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377440" y="2103120"/>
            <a:ext cx="1600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21945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② WHERE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행 거르기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60520" y="2103120"/>
            <a:ext cx="1600200" cy="822960"/>
          </a:xfrm>
          <a:prstGeom prst="rect">
            <a:avLst/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21945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2EE"/>
                </a:solidFill>
              </a:rPr>
              <a:t>③ GROUP BY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4F2EE"/>
                </a:solidFill>
              </a:rPr>
              <a:t>묶기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0" y="2103120"/>
            <a:ext cx="1600200" cy="822960"/>
          </a:xfrm>
          <a:prstGeom prst="rect">
            <a:avLst/>
          </a:prstGeom>
          <a:solidFill>
            <a:srgbClr val="1B2130"/>
          </a:solidFill>
          <a:ln w="12700">
            <a:solidFill>
              <a:srgbClr val="1B21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1945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2EE"/>
                </a:solidFill>
              </a:rPr>
              <a:t>④ HAVING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4F2EE"/>
                </a:solidFill>
              </a:rPr>
              <a:t>그룹 거르기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26680" y="2103120"/>
            <a:ext cx="1600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09560" y="21945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⑤ SELECT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509760" y="2103120"/>
            <a:ext cx="20848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92640" y="21945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⑥ ORDER BY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⑦ LIMIT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3832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WHERE</a:t>
            </a:r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— 묶기 </a:t>
            </a:r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</a:t>
            </a:r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 행을 거른다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집계 함수를 쓸 수 없다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예: </a:t>
            </a:r>
            <a:pPr algn="l"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 = '배달완료'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3832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HAVING</a:t>
            </a:r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— 묶은 </a:t>
            </a:r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후</a:t>
            </a:r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 그룹을 거른다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집계 함수를 쓸 수 있다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예: </a:t>
            </a:r>
            <a:pPr algn="l"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COUNT(*) &gt;= 50</a:t>
            </a:r>
            <a:endParaRPr lang="en-US" sz="1700" dirty="0"/>
          </a:p>
        </p:txBody>
      </p:sp>
      <p:sp>
        <p:nvSpPr>
          <p:cNvPr id="18" name="caption"/>
          <p:cNvSpPr txBox="1"/>
          <p:nvPr/>
        </p:nvSpPr>
        <p:spPr>
          <a:xfrm>
            <a:off x="594360" y="5212080"/>
            <a:ext cx="110029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판단 기준: 조건에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집계 함수가 들어가면 HAVING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, 아니면 WHERE. 거를 수 있는 행은 최대한 일찍 WHERE에서.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· WHERE vs HAVING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배달 완료 50건 이상인 가게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2363724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2071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restaurant_id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delivered_count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'배달완료'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restaurant_id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HAVING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delivered_count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5행</a:t>
            </a:r>
            <a:endParaRPr lang="en-US" sz="1100" dirty="0"/>
          </a:p>
        </p:txBody>
      </p:sp>
      <p:graphicFrame>
        <p:nvGraphicFramePr>
          <p:cNvPr id="18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2211690"/>
                <a:gridCol w="2527645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restaurant_id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delivered_count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· WHERE vs HAVING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WHERE에 집계 함수를 쓰면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1627632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restaurant_id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delivered_count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'배달완료'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</a:t>
            </a:r>
            <a:endParaRPr lang="en-US" sz="2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restaurant_id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error"/>
          <p:cNvSpPr txBox="1"/>
          <p:nvPr/>
        </p:nvSpPr>
        <p:spPr>
          <a:xfrm>
            <a:off x="594360" y="3547872"/>
            <a:ext cx="11002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2318"/>
                </a:solidFill>
              </a:rPr>
              <a:t>▶ 실행 결과 · 에러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rgbClr val="B423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 Code: 1111. Invalid use of group function</a:t>
            </a:r>
            <a:endParaRPr lang="en-US" sz="1200" dirty="0"/>
          </a:p>
        </p:txBody>
      </p:sp>
      <p:sp>
        <p:nvSpPr>
          <p:cNvPr id="7" name="caption"/>
          <p:cNvSpPr txBox="1"/>
          <p:nvPr/>
        </p:nvSpPr>
        <p:spPr>
          <a:xfrm>
            <a:off x="594360" y="5148072"/>
            <a:ext cx="1100297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WHERE(②) 시점에는 아직 묶이지 않았으니 "그룹의 개수"라는 게 존재하지 않습니다.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194560"/>
            <a:ext cx="11002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조건부 집계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114800"/>
            <a:ext cx="11002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집계 함수 </a:t>
            </a:r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안에</a:t>
            </a:r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조건을 넣는다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조건부 집계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한 표에 전체 · 완료 · 취소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2139696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DATE_FORMAT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'%Y-%m'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order_month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total_orders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'배달완료'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'취소'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canceled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order_month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order_month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6" name="caption"/>
          <p:cNvSpPr txBox="1"/>
          <p:nvPr/>
        </p:nvSpPr>
        <p:spPr>
          <a:xfrm>
            <a:off x="594360" y="4059936"/>
            <a:ext cx="11002975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status = '취소'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로 거르면 다른 지표의 행까지 사라집니다.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CASE가 행마다 1·0을 만들고 SUM이 셉니다.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조건부 집계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한 표에 전체 · 완료 · 취소 — 실행 결과</a:t>
            </a:r>
            <a:endParaRPr lang="en-US" sz="3000" dirty="0"/>
          </a:p>
        </p:txBody>
      </p:sp>
      <p:sp>
        <p:nvSpPr>
          <p:cNvPr id="4" name="result-caption"/>
          <p:cNvSpPr txBox="1"/>
          <p:nvPr/>
        </p:nvSpPr>
        <p:spPr>
          <a:xfrm>
            <a:off x="594360" y="164592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6행</a:t>
            </a:r>
            <a:endParaRPr lang="en-US" sz="1100" dirty="0"/>
          </a:p>
        </p:txBody>
      </p:sp>
      <p:graphicFrame>
        <p:nvGraphicFramePr>
          <p:cNvPr id="22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38528"/>
          <a:ext cx="11002975" cy="914400"/>
        </p:xfrm>
        <a:graphic>
          <a:graphicData uri="http://schemas.openxmlformats.org/drawingml/2006/table">
            <a:tbl>
              <a:tblPr/>
              <a:tblGrid>
                <a:gridCol w="3000811"/>
                <a:gridCol w="3250879"/>
                <a:gridCol w="2500676"/>
                <a:gridCol w="2250609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order_month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total_orders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delivered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canceled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74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2026-04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6" name="caption"/>
          <p:cNvSpPr txBox="1"/>
          <p:nvPr/>
        </p:nvSpPr>
        <p:spPr>
          <a:xfrm>
            <a:off x="594360" y="576072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6월: 109 = 97 + 9 + 진행 중 3건. 숫자가 안 맞으면 원인을 데이터에서 찾습니다.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조건부 집계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조건부 집계를 쓰는 세 가지 방법</a:t>
            </a:r>
            <a:endParaRPr lang="en-US" sz="3000" dirty="0"/>
          </a:p>
        </p:txBody>
      </p:sp>
      <p:graphicFrame>
        <p:nvGraphicFramePr>
          <p:cNvPr id="2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4965192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쓰는 법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비고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SUM(CASE WHEN 조건 THEN 1 ELSE 0 END)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표준 SQL, 어느 DBMS에서나 동작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COUNT(CASE WHEN 조건 THEN 1 END)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ELSE가 없으면 NULL → COUNT가 안 셈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SUM(조건)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MySQL 전용 축약 (참 = 1, 거짓 = 0)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SUM(CASE WHEN 조건 THEN delivery_fee ELSE 0 END)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건수뿐 아니라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금액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도 조건부로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조건부 집계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비율 — 가게별 취소율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2139696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restaurant_id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total_orders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'취소'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canceled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ROUND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'취소'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NULLIF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cancel_rate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restaurant_id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cancel_rate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restaurant_id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4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4059936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14행 중 2행</a:t>
            </a:r>
            <a:endParaRPr lang="en-US" sz="1100" dirty="0"/>
          </a:p>
        </p:txBody>
      </p:sp>
      <p:graphicFrame>
        <p:nvGraphicFramePr>
          <p:cNvPr id="24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352544"/>
          <a:ext cx="11002975" cy="914400"/>
        </p:xfrm>
        <a:graphic>
          <a:graphicData uri="http://schemas.openxmlformats.org/drawingml/2006/table">
            <a:tbl>
              <a:tblPr/>
              <a:tblGrid>
                <a:gridCol w="3209201"/>
                <a:gridCol w="2979972"/>
                <a:gridCol w="2063058"/>
                <a:gridCol w="2750744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restaurant_id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total_orders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canceled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cancel_rate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24.0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34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14.7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594604"/>
            <a:ext cx="11002975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12번 가게 24%? 전체 25건뿐 —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표본이 작으면 비율은 크게 흔들립니다.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비율 옆엔 항상 건수를.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06 · 주문 상세 집계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order_items — 주문 1건의 음식 금액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2139696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order_id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item_lines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quantity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total_quantity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quantity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unit_price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food_amount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order_items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order_id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food_amount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order_id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594360" y="4059936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563행 중 3행</a:t>
            </a:r>
            <a:endParaRPr lang="en-US" sz="1100" dirty="0"/>
          </a:p>
        </p:txBody>
      </p:sp>
      <p:graphicFrame>
        <p:nvGraphicFramePr>
          <p:cNvPr id="25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352544"/>
          <a:ext cx="11002975" cy="914400"/>
        </p:xfrm>
        <a:graphic>
          <a:graphicData uri="http://schemas.openxmlformats.org/drawingml/2006/table">
            <a:tbl>
              <a:tblPr/>
              <a:tblGrid>
                <a:gridCol w="2106953"/>
                <a:gridCol w="2575164"/>
                <a:gridCol w="3511588"/>
                <a:gridCol w="2809270"/>
              </a:tblGrid>
              <a:tr h="313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order_id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item_lines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total_quantity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food_amount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395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85000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285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83000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24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82000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5835904"/>
            <a:ext cx="11002975" cy="427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⚠ 취소 주문의 상세도 섞여 있습니다. 상태는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, 금액은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order_items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— 둘을 잇는 건 Ch05 JOIN.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07 · WITH ROLLUP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소계와 합계 — WITH ROLLUP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2651760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IFNULL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payment_method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'합계'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payment_method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delivered_orders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delivery_fee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fee_sum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'배달완료'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payment_method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ROLLUP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5행</a:t>
            </a:r>
            <a:endParaRPr lang="en-US" sz="1100" dirty="0"/>
          </a:p>
        </p:txBody>
      </p:sp>
      <p:graphicFrame>
        <p:nvGraphicFramePr>
          <p:cNvPr id="26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1777251"/>
                <a:gridCol w="2014217"/>
                <a:gridCol w="947867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payment_method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delivered_orders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fee_sum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간편결제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171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404500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계좌이체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140000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카드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229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549500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현장결제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128500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합계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511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1222500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4572000"/>
            <a:ext cx="1100297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합계 행의 그룹 열은 NULL로 나옵니다. 리포트용 합계가 꼭 필요할 때만.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요청 해결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월별 운영 리포트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11002975" cy="2811780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10600639" cy="2519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DATE_FORMAT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'%Y-%m'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order_month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total_orders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'배달완료'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'취소'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canceled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ROUND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'취소'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cancel_rate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'배달완료'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delivery_fee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fee_sum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'배달완료'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discount_amount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discount_sum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ROUND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TIMESTAMPDIFF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MINUTE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ordered_at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delivered_at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avg_delivery_min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order_month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order_month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400" dirty="0"/>
          </a:p>
        </p:txBody>
      </p:sp>
      <p:sp>
        <p:nvSpPr>
          <p:cNvPr id="6" name="caption"/>
          <p:cNvSpPr txBox="1"/>
          <p:nvPr/>
        </p:nvSpPr>
        <p:spPr>
          <a:xfrm>
            <a:off x="594360" y="4732020"/>
            <a:ext cx="11002975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평균 배달 시간은 조건부로 쓰지 않았습니다 — 완료가 아닌 주문은 </a:t>
            </a:r>
            <a:pPr indent="0" marL="0">
              <a:buNone/>
            </a:pPr>
            <a:r>
              <a:rPr lang="en-US" sz="1700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delivered_at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이 NULL이라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AVG가 알아서 건너뜀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요청 해결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월별 운영 리포트 — 실행 결과</a:t>
            </a:r>
            <a:endParaRPr lang="en-US" sz="3000" dirty="0"/>
          </a:p>
        </p:txBody>
      </p:sp>
      <p:sp>
        <p:nvSpPr>
          <p:cNvPr id="4" name="result-caption"/>
          <p:cNvSpPr txBox="1"/>
          <p:nvPr/>
        </p:nvSpPr>
        <p:spPr>
          <a:xfrm>
            <a:off x="594360" y="1645920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6행</a:t>
            </a:r>
            <a:endParaRPr lang="en-US" sz="1100" dirty="0"/>
          </a:p>
        </p:txBody>
      </p:sp>
      <p:graphicFrame>
        <p:nvGraphicFramePr>
          <p:cNvPr id="28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38528"/>
          <a:ext cx="11002975" cy="914400"/>
        </p:xfrm>
        <a:graphic>
          <a:graphicData uri="http://schemas.openxmlformats.org/drawingml/2006/table">
            <a:tbl>
              <a:tblPr/>
              <a:tblGrid>
                <a:gridCol w="1404635"/>
                <a:gridCol w="1521688"/>
                <a:gridCol w="1170529"/>
                <a:gridCol w="1053476"/>
                <a:gridCol w="1404635"/>
                <a:gridCol w="936423"/>
                <a:gridCol w="1521688"/>
                <a:gridCol w="1989900"/>
              </a:tblGrid>
              <a:tr h="361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order_month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total_orders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delivered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canceled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cancel_rate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fee_sum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discount_sum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avg_delivery_min</a:t>
                      </a:r>
                      <a:endParaRPr lang="en-US" sz="1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2026-01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74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7.5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165000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28000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31.8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2026-02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76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7.9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180000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23000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32.5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2026-03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79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73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7.6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173000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37000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34.8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2026-04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106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91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14.2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206500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31000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33.0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2026-05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113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106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6.2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268500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65000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35.5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2026-06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109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97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8.3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229500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31000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33.5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6" name="caption"/>
          <p:cNvSpPr txBox="1"/>
          <p:nvPr/>
        </p:nvSpPr>
        <p:spPr>
          <a:xfrm>
            <a:off x="594360" y="5760720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6월은 완료 + 취소가 전체보다 3건 적습니다(진행 중 주문).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4월 취소율 14.2%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는 회의에서 반드시 나올 질문 — 리포트는 다음 질문의 출발점.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요청 해결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배달 완료 Top 5 가게</a:t>
            </a:r>
            <a:endParaRPr lang="en-US" sz="3000" dirty="0"/>
          </a:p>
        </p:txBody>
      </p:sp>
      <p:sp>
        <p:nvSpPr>
          <p:cNvPr id="4" name="code-bg"/>
          <p:cNvSpPr/>
          <p:nvPr/>
        </p:nvSpPr>
        <p:spPr>
          <a:xfrm>
            <a:off x="594360" y="1645920"/>
            <a:ext cx="5852160" cy="2139696"/>
          </a:xfrm>
          <a:prstGeom prst="rect">
            <a:avLst/>
          </a:prstGeom>
          <a:solidFill>
            <a:srgbClr val="22262E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795528" y="1792224"/>
            <a:ext cx="544982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restaurant_id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delivered_count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C8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'배달완료'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restaurant_id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delivered_count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restaurant_id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DB3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1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;</a:t>
            </a:r>
            <a:endParaRPr lang="en-US" sz="1600" dirty="0"/>
          </a:p>
        </p:txBody>
      </p:sp>
      <p:sp>
        <p:nvSpPr>
          <p:cNvPr id="6" name="result-caption"/>
          <p:cNvSpPr txBox="1"/>
          <p:nvPr/>
        </p:nvSpPr>
        <p:spPr>
          <a:xfrm>
            <a:off x="6858000" y="1645920"/>
            <a:ext cx="4739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▶ 실행 결과 · 5행</a:t>
            </a:r>
            <a:endParaRPr lang="en-US" sz="1100" dirty="0"/>
          </a:p>
        </p:txBody>
      </p:sp>
      <p:graphicFrame>
        <p:nvGraphicFramePr>
          <p:cNvPr id="29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38528"/>
          <a:ext cx="4739335" cy="914400"/>
        </p:xfrm>
        <a:graphic>
          <a:graphicData uri="http://schemas.openxmlformats.org/drawingml/2006/table">
            <a:tbl>
              <a:tblPr/>
              <a:tblGrid>
                <a:gridCol w="2211690"/>
                <a:gridCol w="2527645"/>
              </a:tblGrid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restaurant_id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delivered_count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55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53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51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  <p:sp>
        <p:nvSpPr>
          <p:cNvPr id="8" name="caption"/>
          <p:cNvSpPr txBox="1"/>
          <p:nvPr/>
        </p:nvSpPr>
        <p:spPr>
          <a:xfrm>
            <a:off x="594360" y="4239768"/>
            <a:ext cx="11002975" cy="2023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그런데…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"1번 가게가 어디예요?"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오늘 배운 것</a:t>
            </a:r>
            <a:endParaRPr lang="en-US" sz="3000" dirty="0"/>
          </a:p>
        </p:txBody>
      </p:sp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0297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87959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문법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핵심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COUNT(*)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COUNT(열)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COUNT(DISTINCT 열)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행 수 / NULL 아닌 수 / 서로 다른 값 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SUM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AVG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MIN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MAX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NULL은 건너뜀. 대상 0행이면 NULL →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IFNULL(…, 0)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GROUP BY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같은 값끼리 묶기. 열 · 여러 열 · 식(월, 시간대)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SELECT 규칙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GROUP BY 열 또는 집계 함수만 (위반 시 1055)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HAVING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그룹 조건. 집계 함수가 들어간 조건만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조건부 집계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44A1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SUM(CASE WHEN … THEN 1 ELSE 0 END)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실행 순서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FROM → WHERE → GROUP BY → HAVING → SELECT → ORDER BY → LIMIT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8288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44A1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713232"/>
            <a:ext cx="11002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practice.md — 숫자로 요약하기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6459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메뉴 가격 요약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업종별 가게 수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별점 분포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리뷰 평균 별점 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등급별 고객 현황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결제 수단별 실적 ★★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6459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피크 시간대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단골 고객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큰 주문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가격 인상 효과 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기사별 배달 실적 ★★★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44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  </a:t>
            </a:r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1F2937"/>
                </a:solidFill>
              </a:rPr>
              <a:t>월 × 결제 수단 피벗 ★★★</a:t>
            </a:r>
            <a:endParaRPr lang="en-US" sz="2000" dirty="0"/>
          </a:p>
        </p:txBody>
      </p:sp>
      <p:sp>
        <p:nvSpPr>
          <p:cNvPr id="6" name="caption"/>
          <p:cNvSpPr txBox="1"/>
          <p:nvPr/>
        </p:nvSpPr>
        <p:spPr>
          <a:xfrm>
            <a:off x="594360" y="557784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실적을 묻는 문제는 특별한 말이 없으면 </a:t>
            </a:r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배달 완료 주문만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 셉니다.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86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BM Plex Sans KR"/>
                <a:ea typeface="IBM Plex Sans KR"/>
                <a:cs typeface="IBM Plex Sans KR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94360" y="3840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8A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 · Ch05 JOIN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10972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흩어진 데이터 잇기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A4F"/>
                </a:solidFill>
              </a:rPr>
              <a:t>From. 정산팀 정 대리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517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회의에서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"5번 가게가 어디예요?"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라는 질문이 나왔어요. 가게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번호 말고 이름으로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, 그리고 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음식 매출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4F2EE"/>
                </a:solidFill>
                <a:latin typeface="Gowun Batang" pitchFamily="34" charset="0"/>
                <a:ea typeface="Gowun Batang" pitchFamily="34" charset="-122"/>
                <a:cs typeface="Gowun Batang" pitchFamily="34" charset="-120"/>
              </a:rPr>
              <a:t>(취소 제외)도 월별로 보고 싶대요.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84632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5CAD3"/>
                </a:solidFill>
              </a:rPr>
              <a:t>가게 이름은 </a:t>
            </a:r>
            <a:pPr indent="0" marL="0">
              <a:buNone/>
            </a:pPr>
            <a:r>
              <a:rPr lang="en-US" sz="1700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restaurants</a:t>
            </a:r>
            <a:pPr indent="0" marL="0">
              <a:buNone/>
            </a:pPr>
            <a:r>
              <a:rPr lang="en-US" sz="1700" dirty="0">
                <a:solidFill>
                  <a:srgbClr val="C5CAD3"/>
                </a:solidFill>
              </a:rPr>
              <a:t>에, 상태는 </a:t>
            </a:r>
            <a:pPr indent="0" marL="0">
              <a:buNone/>
            </a:pPr>
            <a:r>
              <a:rPr lang="en-US" sz="1700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orders</a:t>
            </a:r>
            <a:pPr indent="0" marL="0">
              <a:buNone/>
            </a:pPr>
            <a:r>
              <a:rPr lang="en-US" sz="1700" dirty="0">
                <a:solidFill>
                  <a:srgbClr val="C5CAD3"/>
                </a:solidFill>
              </a:rPr>
              <a:t>에, 금액은 </a:t>
            </a:r>
            <a:pPr indent="0" marL="0">
              <a:buNone/>
            </a:pPr>
            <a:r>
              <a:rPr lang="en-US" sz="1700" dirty="0">
                <a:solidFill>
                  <a:srgbClr val="E08A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order_items</a:t>
            </a:r>
            <a:pPr indent="0" marL="0">
              <a:buNone/>
            </a:pPr>
            <a:r>
              <a:rPr lang="en-US" sz="1700" dirty="0">
                <a:solidFill>
                  <a:srgbClr val="C5CAD3"/>
                </a:solidFill>
              </a:rPr>
              <a:t>에. 세 테이블을 하나로 잇는 방법 — Ch05, JOIN.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kyong Thesis">
  <a:themeElements>
    <a:clrScheme name="Pukyong Thesis">
      <a:dk1>
        <a:srgbClr val="1F2937"/>
      </a:dk1>
      <a:lt1>
        <a:srgbClr val="F4F2EE"/>
      </a:lt1>
      <a:dk2>
        <a:srgbClr val="1B2130"/>
      </a:dk2>
      <a:lt2>
        <a:srgbClr val="EAE6DF"/>
      </a:lt2>
      <a:accent1>
        <a:srgbClr val="A44A1B"/>
      </a:accent1>
      <a:accent2>
        <a:srgbClr val="E08A4F"/>
      </a:accent2>
      <a:accent3>
        <a:srgbClr val="8DB3E8"/>
      </a:accent3>
      <a:accent4>
        <a:srgbClr val="2F6B4F"/>
      </a:accent4>
      <a:accent5>
        <a:srgbClr val="6B7280"/>
      </a:accent5>
      <a:accent6>
        <a:srgbClr val="D6D1C7"/>
      </a:accent6>
      <a:hlink>
        <a:srgbClr val="A44A1B"/>
      </a:hlink>
      <a:folHlink>
        <a:srgbClr val="6B7280"/>
      </a:folHlink>
    </a:clrScheme>
    <a:fontScheme name="Pukyong Thesis">
      <a:majorFont>
        <a:latin typeface="Gowun Batang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Korea IT Academy Busan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Ch04. 집계와 그룹</dc:title>
  <dc:subject>PptxGenJS Presentation</dc:subject>
  <dc:creator>김준일</dc:creator>
  <cp:lastModifiedBy>김준일</cp:lastModifiedBy>
  <cp:revision>1</cp:revision>
  <dcterms:created xsi:type="dcterms:W3CDTF">2026-10-29T02:23:31Z</dcterms:created>
  <dcterms:modified xsi:type="dcterms:W3CDTF">2026-10-29T02:23:31Z</dcterms:modified>
</cp:coreProperties>
</file>