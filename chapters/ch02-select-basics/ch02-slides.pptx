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671436f-e044-5af5-b6e9-5ab18f3f6d8a}">
          <p14:sldIdLst>
            <p14:sldId id="256"/>
            <p14:sldId id="257"/>
            <p14:sldId id="258"/>
            <p14:sldId id="259"/>
          </p14:sldIdLst>
        </p14:section>
        <p14:section name="SELECT 절" id="{91ed6763-9765-5c01-ee94-8dda147364e9}">
          <p14:sldIdLst>
            <p14:sldId id="260"/>
            <p14:sldId id="261"/>
            <p14:sldId id="262"/>
            <p14:sldId id="263"/>
          </p14:sldIdLst>
        </p14:section>
        <p14:section name="WHERE 절" id="{d09d5020-30df-1c53-ba64-c0da0bfd8fa6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정렬과 개수" id="{cdf38ab0-ecc1-c96f-1f34-d4811cb1e520}">
          <p14:sldIdLst>
            <p14:sldId id="275"/>
            <p14:sldId id="276"/>
            <p14:sldId id="277"/>
            <p14:sldId id="278"/>
            <p14:sldId id="279"/>
          </p14:sldIdLst>
        </p14:section>
        <p14:section name="실행 순서" id="{bda29f94-8a3d-c3ea-56c5-a55284f249b3}">
          <p14:sldIdLst>
            <p14:sldId id="280"/>
            <p14:sldId id="281"/>
          </p14:sldIdLst>
        </p14:section>
        <p14:section name="마무리" id="{0cff2c80-84c6-2b03-9c9c-3f9a64adef99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수영구에는 한식 가게가 없다. 왼쪽에 부산진구 일식·치킨·양식이 다 나온 이유를 학생이 설명하게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828800"/>
            <a:ext cx="1100297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389120"/>
            <a:ext cx="1100297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5CAD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5943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Korea IT Academy Busan · 강사 김준일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943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Ch02 · SELECT 기본 — 원하는 행과 열만 정확하게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097280"/>
            <a:ext cx="110029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MySQL 30시간 · CHAPTER 02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82880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SELECT 기본</a:t>
            </a:r>
            <a:endParaRPr lang="en-US" sz="5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원하는 행과 열만 정확하게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38912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5CAD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DB · hanip_delivery02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"최소주문 부담 없는 가게" 배너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From. 운영팀 박 팀장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부산진구·수영구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에 있는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영업 중인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 가게 중 최소 주문 금액이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15,000원 이하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인 곳을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배달팁이 싼 순서로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 뽑아 주세요. 배달팁이 같으면 최소 주문 금액이 낮은 가게가 먼저 나오게요.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512064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525780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열 고르기 → 행 거르기 → 정렬 → 개수 자르기. 오늘 끝에 이 요청을 한 문장으로 처리합니다.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목차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 배울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00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SELECT 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60020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열 · 계산식 · 별칭 · DISTINCT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WHERE 절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37744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비교 · 논리 · 범위 · 목록 · 패턴 · NULL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54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ORDER BY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315468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여러 기준 정렬, NULL의 위치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31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LIMIT · OFFSET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93192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Top-N과 페이지 나누기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70916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709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09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논리적 실행 순서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470916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왜 WHERE에서 별칭을 못 쓸까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수업 준비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오늘의 DB로 이동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30759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chapters/ch02-select-basics/setup.sql 전체 실행 후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DATABASES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'hanip_delivery%'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hanip_delivery02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3227832"/>
            <a:ext cx="11002975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지난 시간의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hanip_delivery01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도 그대로 남아 있습니다. SCHEMAS 패널에서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굵게 표시된 DB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를 확인하세요.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SELECT 절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결과의 모양 정하기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SELECT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계산식 — 원본은 그대로, 결과에서만 계산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78765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70789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70행 중 3행</a:t>
            </a:r>
            <a:endParaRPr lang="en-US" sz="1100" dirty="0"/>
          </a:p>
        </p:txBody>
      </p:sp>
      <p:graphicFrame>
        <p:nvGraphicFramePr>
          <p:cNvPr id="7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00500"/>
          <a:ext cx="11002975" cy="914400"/>
        </p:xfrm>
        <a:graphic>
          <a:graphicData uri="http://schemas.openxmlformats.org/drawingml/2006/table">
            <a:tbl>
              <a:tblPr/>
              <a:tblGrid>
                <a:gridCol w="2073859"/>
                <a:gridCol w="1728216"/>
                <a:gridCol w="3456432"/>
                <a:gridCol w="3744468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 * 1.1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 - 1000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돼지국밥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11000.0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11000.0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섞어국밥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11550.0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580380"/>
            <a:ext cx="11002975" cy="68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열 순서는 테이블 정의와 상관없이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SELECT에 적은 순서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대로 나옵니다.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SELECT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별칭(AS) — 결과에서만 쓰는 이름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62763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menu_name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current_price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500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price_after_raise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54787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70행 중 4행</a:t>
            </a:r>
            <a:endParaRPr lang="en-US" sz="1100" dirty="0"/>
          </a:p>
        </p:txBody>
      </p:sp>
      <p:graphicFrame>
        <p:nvGraphicFramePr>
          <p:cNvPr id="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40480"/>
          <a:ext cx="11002975" cy="914400"/>
        </p:xfrm>
        <a:graphic>
          <a:graphicData uri="http://schemas.openxmlformats.org/drawingml/2006/table">
            <a:tbl>
              <a:tblPr/>
              <a:tblGrid>
                <a:gridCol w="2619756"/>
                <a:gridCol w="3667658"/>
                <a:gridCol w="4715561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menu_name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current_price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price_after_raise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돼지국밥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섞어국밥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수육 백반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758180"/>
            <a:ext cx="1100297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는 생략할 수 있지만 쉼표 실수와 구별이 안 되므로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항상 씁니다.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실무 별칭은 영문 snake_case.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SELECT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DISTINCT — 결과 행 전체 기준 중복 제거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DISTINCT category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85953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DISTINCT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7" name="result-caption"/>
          <p:cNvSpPr txBox="1"/>
          <p:nvPr/>
        </p:nvSpPr>
        <p:spPr>
          <a:xfrm>
            <a:off x="594360" y="3127248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8행 중 6행</a:t>
            </a:r>
            <a:endParaRPr lang="en-US" sz="1100" dirty="0"/>
          </a:p>
        </p:txBody>
      </p:sp>
      <p:graphicFrame>
        <p:nvGraphicFramePr>
          <p:cNvPr id="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19856"/>
          <a:ext cx="5272888" cy="914400"/>
        </p:xfrm>
        <a:graphic>
          <a:graphicData uri="http://schemas.openxmlformats.org/drawingml/2006/table">
            <a:tbl>
              <a:tblPr/>
              <a:tblGrid>
                <a:gridCol w="5272888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피자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분식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DISTINCT district, category</a:t>
            </a:r>
            <a:endParaRPr lang="en-US" sz="1600" dirty="0"/>
          </a:p>
        </p:txBody>
      </p:sp>
      <p:sp>
        <p:nvSpPr>
          <p:cNvPr id="10" name="code-bg"/>
          <p:cNvSpPr/>
          <p:nvPr/>
        </p:nvSpPr>
        <p:spPr>
          <a:xfrm>
            <a:off x="6324448" y="2039112"/>
            <a:ext cx="5272888" cy="85953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6525616" y="2185416"/>
            <a:ext cx="487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DISTINCT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12" name="result-caption"/>
          <p:cNvSpPr txBox="1"/>
          <p:nvPr/>
        </p:nvSpPr>
        <p:spPr>
          <a:xfrm>
            <a:off x="6324448" y="3127248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15행 중 6행</a:t>
            </a:r>
            <a:endParaRPr lang="en-US" sz="1100" dirty="0"/>
          </a:p>
        </p:txBody>
      </p:sp>
      <p:graphicFrame>
        <p:nvGraphicFramePr>
          <p:cNvPr id="17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3419856"/>
          <a:ext cx="5272888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district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해운대구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수영구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피자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수영구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4" name="caption"/>
          <p:cNvSpPr txBox="1"/>
          <p:nvPr/>
        </p:nvSpPr>
        <p:spPr>
          <a:xfrm>
            <a:off x="594360" y="5721096"/>
            <a:ext cx="1100297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열이 둘이면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두 값의 조합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이 같아야 중복입니다. (부산진구, 한식)과 (부산진구, 일식)은 다른 행.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WHERE 절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조건이 </a:t>
            </a:r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참(TRUE)인 행만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결과에 남는다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비교 연산자</a:t>
            </a:r>
            <a:endParaRPr lang="en-US" sz="30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5138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연산자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뜻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=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같다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 = '치킨'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&lt;&gt;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!=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다르다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status &lt;&gt; '취소'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&gt;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&gt;=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&lt;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&lt;=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크다 · 작다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 &gt;= 20000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날짜도 비교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작은따옴표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opened_at &gt;= '2025-01-01'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BOOLEAN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TRUE / FALSE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is_sold_out = TRUE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값과 비교하기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30759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20000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9행 중 8행</a:t>
            </a:r>
            <a:endParaRPr lang="en-US" sz="1100" dirty="0"/>
          </a:p>
        </p:txBody>
      </p:sp>
      <p:graphicFrame>
        <p:nvGraphicFramePr>
          <p:cNvPr id="12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3398014"/>
                <a:gridCol w="1341321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수육 (중)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트러플 머쉬룸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마라샹궈 (2인)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27000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후라이드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양념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반반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순살 간장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모둠 초밥 (12pc)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AND와 OR가 섞이면 — 괄호!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괄호 없음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146761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'부산진구'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'수영구'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'한식'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result-caption"/>
          <p:cNvSpPr txBox="1"/>
          <p:nvPr/>
        </p:nvSpPr>
        <p:spPr>
          <a:xfrm>
            <a:off x="594360" y="3735324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4행</a:t>
            </a:r>
            <a:endParaRPr lang="en-US" sz="1100" dirty="0"/>
          </a:p>
        </p:txBody>
      </p:sp>
      <p:graphicFrame>
        <p:nvGraphicFramePr>
          <p:cNvPr id="13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27932"/>
          <a:ext cx="5272888" cy="914400"/>
        </p:xfrm>
        <a:graphic>
          <a:graphicData uri="http://schemas.openxmlformats.org/drawingml/2006/table">
            <a:tbl>
              <a:tblPr/>
              <a:tblGrid>
                <a:gridCol w="2343506"/>
                <a:gridCol w="1464691"/>
                <a:gridCol w="1464691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district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서면옛날돼지국밥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전포카츠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서면야식치킨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전포동오일파스타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양식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괄호로 의도를 고정</a:t>
            </a:r>
            <a:endParaRPr lang="en-US" sz="1600" dirty="0"/>
          </a:p>
        </p:txBody>
      </p:sp>
      <p:sp>
        <p:nvSpPr>
          <p:cNvPr id="10" name="code-bg"/>
          <p:cNvSpPr/>
          <p:nvPr/>
        </p:nvSpPr>
        <p:spPr>
          <a:xfrm>
            <a:off x="6324448" y="2039112"/>
            <a:ext cx="5272888" cy="146761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6525616" y="2185416"/>
            <a:ext cx="4870552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'부산진구'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'수영구'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'한식'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400" dirty="0"/>
          </a:p>
        </p:txBody>
      </p:sp>
      <p:sp>
        <p:nvSpPr>
          <p:cNvPr id="12" name="result-caption"/>
          <p:cNvSpPr txBox="1"/>
          <p:nvPr/>
        </p:nvSpPr>
        <p:spPr>
          <a:xfrm>
            <a:off x="6324448" y="3735324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25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4027932"/>
          <a:ext cx="5272888" cy="914400"/>
        </p:xfrm>
        <a:graphic>
          <a:graphicData uri="http://schemas.openxmlformats.org/drawingml/2006/table">
            <a:tbl>
              <a:tblPr/>
              <a:tblGrid>
                <a:gridCol w="2343506"/>
                <a:gridCol w="1464691"/>
                <a:gridCol w="1464691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district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서면옛날돼지국밥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4" name="caption"/>
          <p:cNvSpPr txBox="1"/>
          <p:nvPr/>
        </p:nvSpPr>
        <p:spPr>
          <a:xfrm>
            <a:off x="594360" y="5750052"/>
            <a:ext cx="11002975" cy="51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AND가 OR보다 먼저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계산 → 왼쪽은 "부산진구 전체 OR 수영구 한식". AND·OR를 섞으면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항상 괄호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BETWEEN — 양 끝을 포함하는 범위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25958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endParaRPr lang="en-US" sz="1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BETWEEN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10000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12000</a:t>
            </a:r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9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11행 중 8행</a:t>
            </a:r>
            <a:endParaRPr lang="en-US" sz="1100" dirty="0"/>
          </a:p>
        </p:txBody>
      </p:sp>
      <p:graphicFrame>
        <p:nvGraphicFramePr>
          <p:cNvPr id="14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3317535"/>
                <a:gridCol w="1421801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돼지국밥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섞어국밥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등심카츠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회밀면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마라 볶음면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도토리묵무침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베이컨 BBQ 버거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10900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⚠ 날짜·시각 범위의 함정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BETWEEN으로 6월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162763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june_orders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BETWEEN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'2026-06-01'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7" name="result-caption"/>
          <p:cNvSpPr txBox="1"/>
          <p:nvPr/>
        </p:nvSpPr>
        <p:spPr>
          <a:xfrm>
            <a:off x="594360" y="3895344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15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87952"/>
          <a:ext cx="5272888" cy="914400"/>
        </p:xfrm>
        <a:graphic>
          <a:graphicData uri="http://schemas.openxmlformats.org/drawingml/2006/table">
            <a:tbl>
              <a:tblPr/>
              <a:tblGrid>
                <a:gridCol w="5272888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june_orders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반열린 구간</a:t>
            </a:r>
            <a:endParaRPr lang="en-US" sz="1600" dirty="0"/>
          </a:p>
        </p:txBody>
      </p:sp>
      <p:sp>
        <p:nvSpPr>
          <p:cNvPr id="10" name="code-bg"/>
          <p:cNvSpPr/>
          <p:nvPr/>
        </p:nvSpPr>
        <p:spPr>
          <a:xfrm>
            <a:off x="6324448" y="2039112"/>
            <a:ext cx="5272888" cy="1371600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6525616" y="2185416"/>
            <a:ext cx="48705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june_orders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'2026-06-01'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'2026-07-01'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12" name="result-caption"/>
          <p:cNvSpPr txBox="1"/>
          <p:nvPr/>
        </p:nvSpPr>
        <p:spPr>
          <a:xfrm>
            <a:off x="6324448" y="3639312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2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3931920"/>
          <a:ext cx="5272888" cy="914400"/>
        </p:xfrm>
        <a:graphic>
          <a:graphicData uri="http://schemas.openxmlformats.org/drawingml/2006/table">
            <a:tbl>
              <a:tblPr/>
              <a:tblGrid>
                <a:gridCol w="5272888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june_orders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109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4" name="caption"/>
          <p:cNvSpPr txBox="1"/>
          <p:nvPr/>
        </p:nvSpPr>
        <p:spPr>
          <a:xfrm>
            <a:off x="594360" y="5041392"/>
            <a:ext cx="11002975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은 DATETIME.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6월 30일 0시 정각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이라 30일 주문 6건이 통째로 빠졌습니다. 기간은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 시작 AND &lt; 다음날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IN — 목록 중 하나 / NOT IN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163574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'취소'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7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3행</a:t>
            </a:r>
            <a:endParaRPr lang="en-US" sz="1100" dirty="0"/>
          </a:p>
        </p:txBody>
      </p:sp>
      <p:graphicFrame>
        <p:nvGraphicFramePr>
          <p:cNvPr id="16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1218686"/>
                <a:gridCol w="947867"/>
                <a:gridCol w="2572782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order_id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status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ordered_at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배달중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2026-06-30 17:50:18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조리중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2026-06-30 18:09:35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접수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2026-06-30 18:47:07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3564128"/>
            <a:ext cx="11002975" cy="269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스냅숏 시각(2026-06-30 19:00)에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진행 중인 주문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LIKE — 문자열 패턴</a:t>
            </a:r>
            <a:endParaRPr lang="en-US" sz="30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2194560"/>
                <a:gridCol w="496519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뜻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일치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0글자 이상 아무거나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'%치킨%'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후라이드 치킨, 양념 치킨, 순살 간장 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_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정확히 1글자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'_밀면'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물밀면  (회밀면 ✗, 비빔밀면 ✗)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94360" y="3703320"/>
            <a:ext cx="110029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앞에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가 붙는 검색(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'%검색어%'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)은 인덱스를 쓸 수 없어 데이터가 많으면 느립니다 → Ch10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LIKE 실행해 보기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30759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'%치킨%'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6행</a:t>
            </a:r>
            <a:endParaRPr lang="en-US" sz="1100" dirty="0"/>
          </a:p>
        </p:txBody>
      </p:sp>
      <p:graphicFrame>
        <p:nvGraphicFramePr>
          <p:cNvPr id="1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1849497"/>
                <a:gridCol w="866952"/>
                <a:gridCol w="2022887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restaurant_id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후라이드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양념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반반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순살 간장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후라이드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17000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양념 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NULL은 = 로 찾을 수 없다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= NULL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111556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7" name="result-caption"/>
          <p:cNvSpPr txBox="1"/>
          <p:nvPr/>
        </p:nvSpPr>
        <p:spPr>
          <a:xfrm>
            <a:off x="594360" y="3383280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0행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IS NULL</a:t>
            </a:r>
            <a:endParaRPr lang="en-US" sz="1600" dirty="0"/>
          </a:p>
        </p:txBody>
      </p:sp>
      <p:sp>
        <p:nvSpPr>
          <p:cNvPr id="9" name="code-bg"/>
          <p:cNvSpPr/>
          <p:nvPr/>
        </p:nvSpPr>
        <p:spPr>
          <a:xfrm>
            <a:off x="6324448" y="2039112"/>
            <a:ext cx="5272888" cy="111556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0" name="code"/>
          <p:cNvSpPr txBox="1"/>
          <p:nvPr/>
        </p:nvSpPr>
        <p:spPr>
          <a:xfrm>
            <a:off x="6525616" y="2185416"/>
            <a:ext cx="487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11" name="result-caption"/>
          <p:cNvSpPr txBox="1"/>
          <p:nvPr/>
        </p:nvSpPr>
        <p:spPr>
          <a:xfrm>
            <a:off x="6324448" y="3383280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6행 중 5행</a:t>
            </a:r>
            <a:endParaRPr lang="en-US" sz="1100" dirty="0"/>
          </a:p>
        </p:txBody>
      </p:sp>
      <p:graphicFrame>
        <p:nvGraphicFramePr>
          <p:cNvPr id="1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3675888"/>
          <a:ext cx="5272888" cy="914400"/>
        </p:xfrm>
        <a:graphic>
          <a:graphicData uri="http://schemas.openxmlformats.org/drawingml/2006/table">
            <a:tbl>
              <a:tblPr/>
              <a:tblGrid>
                <a:gridCol w="2497684"/>
                <a:gridCol w="2775204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email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최수아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윤지아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신동욱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배수빈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김서준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3" name="caption"/>
          <p:cNvSpPr txBox="1"/>
          <p:nvPr/>
        </p:nvSpPr>
        <p:spPr>
          <a:xfrm>
            <a:off x="594360" y="5687568"/>
            <a:ext cx="1100297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NULL은 0도 빈 문자열도 아닌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"모름"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 = NULL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조차 참이 아닙니다.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WHERE 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NULL은 &lt;&gt; 와 NOT LIKE 에도 걸리지 않는다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네이버가 아닌 고객?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111556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not_naver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'%@naver.com'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7" name="result-caption"/>
          <p:cNvSpPr txBox="1"/>
          <p:nvPr/>
        </p:nvSpPr>
        <p:spPr>
          <a:xfrm>
            <a:off x="594360" y="3383280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20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675888"/>
          <a:ext cx="5272888" cy="914400"/>
        </p:xfrm>
        <a:graphic>
          <a:graphicData uri="http://schemas.openxmlformats.org/drawingml/2006/table">
            <a:tbl>
              <a:tblPr/>
              <a:tblGrid>
                <a:gridCol w="5272888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not_naver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NULL까지 포함</a:t>
            </a:r>
            <a:endParaRPr lang="en-US" sz="1600" dirty="0"/>
          </a:p>
        </p:txBody>
      </p:sp>
      <p:sp>
        <p:nvSpPr>
          <p:cNvPr id="10" name="code-bg"/>
          <p:cNvSpPr/>
          <p:nvPr/>
        </p:nvSpPr>
        <p:spPr>
          <a:xfrm>
            <a:off x="6324448" y="2039112"/>
            <a:ext cx="5272888" cy="1371600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6525616" y="2185416"/>
            <a:ext cx="48705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not_naver_or_unknown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'%@naver.com'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12" name="result-caption"/>
          <p:cNvSpPr txBox="1"/>
          <p:nvPr/>
        </p:nvSpPr>
        <p:spPr>
          <a:xfrm>
            <a:off x="6324448" y="3639312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3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3931920"/>
          <a:ext cx="5272888" cy="914400"/>
        </p:xfrm>
        <a:graphic>
          <a:graphicData uri="http://schemas.openxmlformats.org/drawingml/2006/table">
            <a:tbl>
              <a:tblPr/>
              <a:tblGrid>
                <a:gridCol w="5272888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not_naver_or_unknown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4" name="caption"/>
          <p:cNvSpPr txBox="1"/>
          <p:nvPr/>
        </p:nvSpPr>
        <p:spPr>
          <a:xfrm>
            <a:off x="594360" y="4785360"/>
            <a:ext cx="11002975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네이버 8명 + 16명 = 24명. 이메일이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NULL인 6명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은 비교 결과가 "모름"이라 조용히 빠졌습니다.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ORDER BY · LIMIT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순서를 정하고, 필요한 만큼만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ORDER BY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여러 기준으로 정렬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54762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255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delivery_fee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min_order_amount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is_open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delivery_fee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ASC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min_order_amount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ASC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5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14행 중 8행</a:t>
            </a:r>
            <a:endParaRPr lang="en-US" sz="1100" dirty="0"/>
          </a:p>
        </p:txBody>
      </p:sp>
      <p:graphicFrame>
        <p:nvGraphicFramePr>
          <p:cNvPr id="22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1661845"/>
                <a:gridCol w="1333579"/>
                <a:gridCol w="1743911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delivery_fee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min_order_amount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연산동짬뽕반점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장전동든든김밥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해운대명가밀면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서면옛날돼지국밥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남포동떡볶이연구소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전포카츠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하단버거스탠드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남천동마라공방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253228"/>
            <a:ext cx="1100297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첫 번째 기준이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같을 때만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두 번째 기준을 봅니다. 기본은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ASC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(오름차순).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ORDER BY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NULL은 오름차순에서 맨 앞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30759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birth_date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birth_date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30행 중 5행</a:t>
            </a:r>
            <a:endParaRPr lang="en-US" sz="1100" dirty="0"/>
          </a:p>
        </p:txBody>
      </p:sp>
      <p:graphicFrame>
        <p:nvGraphicFramePr>
          <p:cNvPr id="23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1560513"/>
                <a:gridCol w="3178822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birth_date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김서준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송재원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윤지아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강도윤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1979-03-21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신동욱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1983-06-05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239768"/>
            <a:ext cx="11002975" cy="202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NULL을 뒤로 보내려면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birth_date IS NULL, birth_date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LIMIT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동점이 있는 Top-N — 기본키를 마지막 기준으로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22,000원 3개 중 2개는 누구?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117957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result-caption"/>
          <p:cNvSpPr txBox="1"/>
          <p:nvPr/>
        </p:nvSpPr>
        <p:spPr>
          <a:xfrm>
            <a:off x="594360" y="3447288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</a:t>
            </a:r>
            <a:endParaRPr lang="en-US" sz="1100" dirty="0"/>
          </a:p>
        </p:txBody>
      </p:sp>
      <p:graphicFrame>
        <p:nvGraphicFramePr>
          <p:cNvPr id="24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739896"/>
          <a:ext cx="5272888" cy="914400"/>
        </p:xfrm>
        <a:graphic>
          <a:graphicData uri="http://schemas.openxmlformats.org/drawingml/2006/table">
            <a:tbl>
              <a:tblPr/>
              <a:tblGrid>
                <a:gridCol w="3965560"/>
                <a:gridCol w="1307328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특선 오마카세 도시락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45000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마라샹궈 (2인)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27000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트러플 머쉬룸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순살 간장 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수육 (중)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결과가 항상 같다</a:t>
            </a:r>
            <a:endParaRPr lang="en-US" sz="1600" dirty="0"/>
          </a:p>
        </p:txBody>
      </p:sp>
      <p:sp>
        <p:nvSpPr>
          <p:cNvPr id="10" name="code-bg"/>
          <p:cNvSpPr/>
          <p:nvPr/>
        </p:nvSpPr>
        <p:spPr>
          <a:xfrm>
            <a:off x="6324448" y="2039112"/>
            <a:ext cx="5272888" cy="117957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6525616" y="2185416"/>
            <a:ext cx="48705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menu_id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menu_id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300" dirty="0"/>
          </a:p>
        </p:txBody>
      </p:sp>
      <p:sp>
        <p:nvSpPr>
          <p:cNvPr id="12" name="result-caption"/>
          <p:cNvSpPr txBox="1"/>
          <p:nvPr/>
        </p:nvSpPr>
        <p:spPr>
          <a:xfrm>
            <a:off x="6324448" y="3447288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</a:t>
            </a:r>
            <a:endParaRPr lang="en-US" sz="1100" dirty="0"/>
          </a:p>
        </p:txBody>
      </p:sp>
      <p:graphicFrame>
        <p:nvGraphicFramePr>
          <p:cNvPr id="47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3739896"/>
          <a:ext cx="5272888" cy="914400"/>
        </p:xfrm>
        <a:graphic>
          <a:graphicData uri="http://schemas.openxmlformats.org/drawingml/2006/table">
            <a:tbl>
              <a:tblPr/>
              <a:tblGrid>
                <a:gridCol w="1310034"/>
                <a:gridCol w="2980328"/>
                <a:gridCol w="982526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menu_id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58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특선 오마카세 도시락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45000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마라샹궈 (2인)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27000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트러플 머쉬룸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수육 (중)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28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순살 간장 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4" name="caption"/>
          <p:cNvSpPr txBox="1"/>
          <p:nvPr/>
        </p:nvSpPr>
        <p:spPr>
          <a:xfrm>
            <a:off x="594360" y="5751576"/>
            <a:ext cx="11002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ORDER BY 없는 LIMIT은 "아무 N개". 동점이 있으면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유일한 열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로 순서를 확정합니다.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LIMIT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페이지 나누기 — LIMIT … OFFSET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62763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menu_id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menu_id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OFFSET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-- 2페이지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</a:t>
            </a:r>
            <a:endParaRPr lang="en-US" sz="1100" dirty="0"/>
          </a:p>
        </p:txBody>
      </p:sp>
      <p:graphicFrame>
        <p:nvGraphicFramePr>
          <p:cNvPr id="25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1393922"/>
                <a:gridCol w="2299971"/>
                <a:gridCol w="1045442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menu_id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등심카츠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안심카츠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치즈카츠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카레우동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새우튀김 (3pc)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239768"/>
            <a:ext cx="11002975" cy="202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공식 ·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 페이지크기 OFFSET (페이지번호 - 1) × 페이지크기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논리적 실행 순서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적는 순서와 실행 순서는 다르다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작성 순서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SELECT 열, 식 AS 별칭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FROM 테이블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WHERE 행 조건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ORDER BY 정렬 기준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LIMIT 개수 OFFSET 건너뛸 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 순서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2148840"/>
            <a:ext cx="5486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① FROM — 표 고르기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35040" y="2743200"/>
            <a:ext cx="5486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② WHERE — 행 거르기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35040" y="3337560"/>
            <a:ext cx="5486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③④ GROUP BY · HAVING — Ch04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0" y="3931920"/>
            <a:ext cx="5486400" cy="502920"/>
          </a:xfrm>
          <a:prstGeom prst="rect">
            <a:avLst/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4F2EE"/>
                </a:solidFill>
              </a:rPr>
              <a:t>⑤ SELECT — 열·별칭 만들기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5040" y="4526280"/>
            <a:ext cx="5486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⑥ ORDER BY — 정렬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35040" y="5120640"/>
            <a:ext cx="5486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⑦ LIMIT — 자르기</a:t>
            </a:r>
            <a:endParaRPr lang="en-US" sz="1700" dirty="0"/>
          </a:p>
        </p:txBody>
      </p:sp>
      <p:sp>
        <p:nvSpPr>
          <p:cNvPr id="19" name="caption"/>
          <p:cNvSpPr txBox="1"/>
          <p:nvPr/>
        </p:nvSpPr>
        <p:spPr>
          <a:xfrm>
            <a:off x="594360" y="57607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작성 순서는 고정입니다. WHERE를 ORDER BY 뒤에 쓰면 1064.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논리적 실행 순서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그래서 WHERE에서는 별칭을 못 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WHERE에 별칭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971550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price_with_vat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price_with_vat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20000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error"/>
          <p:cNvSpPr txBox="1"/>
          <p:nvPr/>
        </p:nvSpPr>
        <p:spPr>
          <a:xfrm>
            <a:off x="594360" y="3239262"/>
            <a:ext cx="5272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</a:rPr>
              <a:t>▶ 실행 결과 · 에러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B423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 Code: 1054. Unknown column 'price_with_vat' in 'where clause'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WHERE엔 원래 식, ORDER BY엔 별칭</a:t>
            </a:r>
            <a:endParaRPr lang="en-US" sz="1600" dirty="0"/>
          </a:p>
        </p:txBody>
      </p:sp>
      <p:sp>
        <p:nvSpPr>
          <p:cNvPr id="9" name="code-bg"/>
          <p:cNvSpPr/>
          <p:nvPr/>
        </p:nvSpPr>
        <p:spPr>
          <a:xfrm>
            <a:off x="6324448" y="2039112"/>
            <a:ext cx="5272888" cy="117957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0" name="code"/>
          <p:cNvSpPr txBox="1"/>
          <p:nvPr/>
        </p:nvSpPr>
        <p:spPr>
          <a:xfrm>
            <a:off x="6525616" y="2185416"/>
            <a:ext cx="48705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price_with_vat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20000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price_with_vat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300" dirty="0"/>
          </a:p>
        </p:txBody>
      </p:sp>
      <p:sp>
        <p:nvSpPr>
          <p:cNvPr id="11" name="result-caption"/>
          <p:cNvSpPr txBox="1"/>
          <p:nvPr/>
        </p:nvSpPr>
        <p:spPr>
          <a:xfrm>
            <a:off x="6324448" y="3447288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11행 중 4행</a:t>
            </a:r>
            <a:endParaRPr lang="en-US" sz="1100" dirty="0"/>
          </a:p>
        </p:txBody>
      </p:sp>
      <p:graphicFrame>
        <p:nvGraphicFramePr>
          <p:cNvPr id="27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3739896"/>
          <a:ext cx="5272888" cy="914400"/>
        </p:xfrm>
        <a:graphic>
          <a:graphicData uri="http://schemas.openxmlformats.org/drawingml/2006/table">
            <a:tbl>
              <a:tblPr/>
              <a:tblGrid>
                <a:gridCol w="2890559"/>
                <a:gridCol w="2382329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price_with_vat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특선 오마카세 도시락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49500.0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마라샹궈 (2인)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29700.0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트러플 머쉬룸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25300.0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수육 (중)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24200.0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3" name="caption"/>
          <p:cNvSpPr txBox="1"/>
          <p:nvPr/>
        </p:nvSpPr>
        <p:spPr>
          <a:xfrm>
            <a:off x="594360" y="5462016"/>
            <a:ext cx="11002975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WHERE(②) 시점엔 SELECT(⑤)의 별칭이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아직 없습니다.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ORDER BY(⑥)는 SELECT 다음이라 별칭 사용 가능.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 해결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부산진구·수영구 / 영업 중 / 15,000원 이하 / 배달팁 순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78765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min_order_amount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delivery_fee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'부산진구'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'수영구'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is_open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min_order_amount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15000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delivery_fee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min_order_amount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5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70789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 중 4행</a:t>
            </a:r>
            <a:endParaRPr lang="en-US" sz="1100" dirty="0"/>
          </a:p>
        </p:txBody>
      </p:sp>
      <p:graphicFrame>
        <p:nvGraphicFramePr>
          <p:cNvPr id="2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00500"/>
          <a:ext cx="11002975" cy="914400"/>
        </p:xfrm>
        <a:graphic>
          <a:graphicData uri="http://schemas.openxmlformats.org/drawingml/2006/table">
            <a:tbl>
              <a:tblPr/>
              <a:tblGrid>
                <a:gridCol w="2539148"/>
                <a:gridCol w="1586968"/>
                <a:gridCol w="1586968"/>
                <a:gridCol w="2997605"/>
                <a:gridCol w="2292286"/>
              </a:tblGrid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district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min_order_amount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delivery_fee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서면옛날돼지국밥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전포카츠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남천동마라공방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수영구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중식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전포동오일파스타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양식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797550"/>
            <a:ext cx="11002975" cy="4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덕분에 AND·OR 괄호 걱정이 없습니다. 폐업 가게와 18,000원 가게는 빠졌습니다.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자주 하는 실수</a:t>
            </a:r>
            <a:endParaRPr lang="en-US" sz="30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  <a:gridCol w="4050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실수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결과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바른 쓰기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WHERE email = 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0행 (에러 없음)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IS 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WHERE category = 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1054 Unknown column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'치킨'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 OR b AND c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의도와 다른 행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괄호로 묶기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BETWEEN '…-01' AND '…-30'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마지막 날 누락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&gt;= '…-01' AND &lt; '다음달-01'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WHERE 별칭 &gt; …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1054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원래 식 반복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ORDER BY 없는 LIMIT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매번 다를 수 있음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정렬 기준 + 기본키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practice.md — 부서 요청 처리하기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메뉴판 할인가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입점 업종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최근 취소 주문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프리미엄 대표 메뉴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프로모션 문자 대상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이메일 미등록 고객 ★★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분식 메뉴 찾기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3월 현장결제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심야 영업 가게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전화 요청 주문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메뉴 페이징 ★★★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데이터 품질 점검 ★★★</a:t>
            </a:r>
            <a:endParaRPr lang="en-US" sz="20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557784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열 이름 · 행 순서 · 값이 모두 같아야 정답. 12번은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0행이 정답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 · Ch03 함수로 데이터 가공하기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0972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있는 값으로 새 값 만들기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4F"/>
                </a:solidFill>
              </a:rPr>
              <a:t>From. 마케팅팀 이 매니저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생일 쿠폰 문자를 보내려고요. 전화번호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가운데 네 자리를 별표로 가리고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,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나이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와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가입 경과일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도 붙여 주세요.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846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에는 나이 열도, 가입 경과일 열도 없습니다. 재료를 </a:t>
            </a:r>
            <a:pPr indent="0" marL="0">
              <a:buNone/>
            </a:pPr>
            <a:r>
              <a:rPr lang="en-US" sz="1700" b="1" dirty="0">
                <a:solidFill>
                  <a:srgbClr val="C5CAD3"/>
                </a:solidFill>
              </a:rPr>
              <a:t>함수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로 가공합니다 — Ch03.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kyong Thesis">
  <a:themeElements>
    <a:clrScheme name="Pukyong Thesis">
      <a:dk1>
        <a:srgbClr val="1F2937"/>
      </a:dk1>
      <a:lt1>
        <a:srgbClr val="F4F2EE"/>
      </a:lt1>
      <a:dk2>
        <a:srgbClr val="1B2130"/>
      </a:dk2>
      <a:lt2>
        <a:srgbClr val="EAE6DF"/>
      </a:lt2>
      <a:accent1>
        <a:srgbClr val="A44A1B"/>
      </a:accent1>
      <a:accent2>
        <a:srgbClr val="E08A4F"/>
      </a:accent2>
      <a:accent3>
        <a:srgbClr val="8DB3E8"/>
      </a:accent3>
      <a:accent4>
        <a:srgbClr val="2F6B4F"/>
      </a:accent4>
      <a:accent5>
        <a:srgbClr val="6B7280"/>
      </a:accent5>
      <a:accent6>
        <a:srgbClr val="D6D1C7"/>
      </a:accent6>
      <a:hlink>
        <a:srgbClr val="A44A1B"/>
      </a:hlink>
      <a:folHlink>
        <a:srgbClr val="6B7280"/>
      </a:folHlink>
    </a:clrScheme>
    <a:fontScheme name="Pukyong Thesis">
      <a:majorFont>
        <a:latin typeface="Gowun 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Korea IT Academy Busan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Ch02. SELECT 기본</dc:title>
  <dc:subject>PptxGenJS Presentation</dc:subject>
  <dc:creator>김준일</dc:creator>
  <cp:lastModifiedBy>김준일</cp:lastModifiedBy>
  <cp:revision>1</cp:revision>
  <dcterms:created xsi:type="dcterms:W3CDTF">2026-10-29T02:23:30Z</dcterms:created>
  <dcterms:modified xsi:type="dcterms:W3CDTF">2026-10-29T02:23:30Z</dcterms:modified>
</cp:coreProperties>
</file>