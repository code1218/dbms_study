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9a85788-2865-9632-5924-516a1c46d852}">
          <p14:sldIdLst>
            <p14:sldId id="256"/>
            <p14:sldId id="257"/>
            <p14:sldId id="258"/>
          </p14:sldIdLst>
        </p14:section>
        <p14:section name="왜 데이터베이스인가" id="{740362a2-dd87-9fff-f72d-c01476ec3fb1}">
          <p14:sldIdLst>
            <p14:sldId id="259"/>
            <p14:sldId id="260"/>
            <p14:sldId id="261"/>
          </p14:sldIdLst>
        </p14:section>
        <p14:section name="기본 용어" id="{5235f6cd-b34d-38d9-d3a3-0a356b00475a}">
          <p14:sldIdLst>
            <p14:sldId id="262"/>
            <p14:sldId id="263"/>
            <p14:sldId id="264"/>
            <p14:sldId id="265"/>
          </p14:sldIdLst>
        </p14:section>
        <p14:section name="SQL의 종류" id="{66765a96-76ee-b663-2ad0-fde8bc844aaa}">
          <p14:sldIdLst>
            <p14:sldId id="266"/>
          </p14:sldIdLst>
        </p14:section>
        <p14:section name="환경과 설치" id="{fca7b308-7afe-4d89-81ca-81b8f110f1f9}">
          <p14:sldIdLst>
            <p14:sldId id="267"/>
            <p14:sldId id="268"/>
            <p14:sldId id="269"/>
            <p14:sldId id="270"/>
          </p14:sldIdLst>
        </p14:section>
        <p14:section name="DB 탐색" id="{4bd3ffa9-a999-3683-6885-88712a4199bc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작성 규칙과 에러" id="{473cb481-e45d-f74a-a6fd-90bf84ad4a74}">
          <p14:sldIdLst>
            <p14:sldId id="277"/>
            <p14:sldId id="278"/>
            <p14:sldId id="279"/>
            <p14:sldId id="280"/>
            <p14:sldId id="281"/>
          </p14:sldIdLst>
        </p14:section>
        <p14:section name="마무리" id="{4a949789-5233-9425-16d9-e68d458583fc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오리엔테이션: 10챕터 지도와 '데이터팀 신입' 설정을 먼저 소개한다.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그림. 학생이 손가락으로 주문 7번을 따라가게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 수업 시작 루틴: setup.sql 실행 → SHOW DATABASES LIKE → USE hanip_deliveryNN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Korea IT Academy Busan · 강사 김준일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943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Ch01 · 데이터베이스와 첫 만남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MySQL 30시간 · CHAPTER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데이터베이스와</a:t>
            </a:r>
            <a:endParaRPr lang="en-US" sz="5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첫 만남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한입배달 데이터팀 신입의 첫날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첫 주 업무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From. 데이터팀 김 팀장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우리 서비스 DB를 내 PC에 설치하고, 어떤 데이터가 어디에 있는지 파악해 주세요.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퇴근 전에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"주문 한 건이 DB에 어떻게 저장되는지"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설명할 수 있으면 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51206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525780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오늘이 끝나면: DB를 쓰는 이유 · 테이블과 키 · 환경 설치 · 처음 보는 DB 탐색 · 에러 읽기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목차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배울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왜 데이터베이스인가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60020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엑셀로 563건 주문을 관리하면 생기는 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기본 용어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37744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테이블 · 행 · 열 · 기본키 · 외래키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54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SQL의 네 가지 종류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15468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DML · DDL · TCL · DCL = 10챕터 지도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31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환경과 설치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93192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서버와 Workbench, 챕터별 DB </a:t>
            </a:r>
            <a:pPr indent="0" marL="0">
              <a:buNone/>
            </a:pPr>
            <a:r>
              <a:rPr lang="en-US" sz="15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70916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709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9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DB 탐색과 에러 읽기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70916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SHOW → USE → DESC → SELECT … LIMIT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왜 데이터베이스인가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"엑셀이면 되는 거 아닌가요?"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왜 데이터베이스인가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주문 563건을 엑셀 한 장에 적는다면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737360"/>
                <a:gridCol w="2194560"/>
                <a:gridCol w="1828800"/>
                <a:gridCol w="731520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주문일시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고객명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고객전화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가게명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메뉴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수량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단가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2026-01-03 11:32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010-2841-5523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연산동짬뽕반점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짜장면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2026-01-03 11:32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010-2841-5523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연산동짬뽕반점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탕수육 (소)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2026-01-03 11:32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010-2841-5523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연산동짬뽕반점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군만두 (8개)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2026-01-07 19:47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010-2841-5523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대연동크런치치킨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양념 치킨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94360" y="4206240"/>
            <a:ext cx="110029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같은 고객 정보와 가게 정보가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주문의 줄 수만큼 반복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됩니다. 김민준 님의 주문은 상반기에만 52건입니다.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왜 데이터베이스인가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스프레드시트가 버티지 못하는 순간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4663440"/>
                <a:gridCol w="1124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상황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스프레드시트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데이터베이스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전화번호 변경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52건 행을 전부 찾아 수정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고객 정보는 한 곳에, 주문은 번호로 연결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05·09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가격 칸에 '만원' 입력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그대로 저장됨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타입과 규칙으로 거부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3명이 동시에 수정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마지막 저장이 덮어씀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동시 읽기·쓰기 안전 처리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저장 중 PC 꺼짐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반쪽짜리 데이터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트랜잭션: 전부 성공 or 전부 취소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4월 부산진구 치킨 매출?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필터·피벗 수작업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SELECT 한 문장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02~06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알바생은 조회만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파일 주면 전부 보임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사용자별 권한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94360" y="54406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데이터베이스는 "큰 엑셀"이 아니라 데이터를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정확하게 · 동시에 · 안전하게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다루는 시스템입니다.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기본 용어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테이블 · 행 · 열 · 기본키 · 외래키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기본 용어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DB · DBMS · RDBMS · SQL</a:t>
            </a:r>
            <a:endParaRPr lang="en-US" sz="30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86791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용어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뜻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한입배달에서는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데이터베이스 (DB)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체계적으로 정리해 저장한 데이터의 집합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hanip_delivery01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DBMS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데이터베이스를 만들고 관리하는 소프트웨어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MySQL 8.0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RDBMS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데이터를 표(테이블)로 저장하고 표끼리 연결하는 DBMS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MySQL · Oracle · PostgreSQL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SQL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RDBMS에 일을 시키는 표준 언어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SELECT name FROM restaurants;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기본 용어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테이블의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열(column)</a:t>
            </a:r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= 속성 · 필드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35040" y="2057400"/>
            <a:ext cx="0" cy="338328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2423160"/>
          <a:ext cx="6035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전포카츠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해운대명가밀면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행(row)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= 레코드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148840" y="3337560"/>
            <a:ext cx="731520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 flipV="1">
            <a:off x="3886200" y="4297680"/>
            <a:ext cx="0" cy="50292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92608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기본키(PK)</a:t>
            </a:r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— 행을 하나로 콕 집는 값. 중복 X, 빈 값 X</a:t>
            </a:r>
            <a:endParaRPr lang="en-US" sz="1700" dirty="0"/>
          </a:p>
        </p:txBody>
      </p:sp>
      <p:sp>
        <p:nvSpPr>
          <p:cNvPr id="11" name="caption"/>
          <p:cNvSpPr txBox="1"/>
          <p:nvPr/>
        </p:nvSpPr>
        <p:spPr>
          <a:xfrm>
            <a:off x="594360" y="55321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외래키(FK)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는 다른 테이블의 기본키를 가리키는 열입니다. 예: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orders.customer_id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→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customers.customer_id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기본 용어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주문 한 건은 다섯 테이블에 나뉘어 저장된다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73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2377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5156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customer_id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520440" y="17739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210312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17320"/>
                <a:gridCol w="16002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customer_id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183880" y="177393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3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103120"/>
          <a:ext cx="3410712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18288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연산동짬뽕반점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 flipH="1">
            <a:off x="2990088" y="2606040"/>
            <a:ext cx="512064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11" name="Shape 6"/>
          <p:cNvSpPr/>
          <p:nvPr/>
        </p:nvSpPr>
        <p:spPr>
          <a:xfrm>
            <a:off x="7653528" y="2606040"/>
            <a:ext cx="512064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12" name="Text 7"/>
          <p:cNvSpPr txBox="1"/>
          <p:nvPr/>
        </p:nvSpPr>
        <p:spPr>
          <a:xfrm>
            <a:off x="2103120" y="3602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order_items</a:t>
            </a:r>
            <a:endParaRPr lang="en-US" sz="1300" dirty="0"/>
          </a:p>
        </p:txBody>
      </p:sp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3931920"/>
          <a:ext cx="4937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188720"/>
                <a:gridCol w="155448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menu_id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quantity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unit_price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38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 flipV="1">
            <a:off x="2651760" y="2816352"/>
            <a:ext cx="1280160" cy="749808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15" name="Text 9"/>
          <p:cNvSpPr txBox="1"/>
          <p:nvPr/>
        </p:nvSpPr>
        <p:spPr>
          <a:xfrm>
            <a:off x="40690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order_id = 7 인 줄이 3개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7680960" y="360273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300" dirty="0"/>
          </a:p>
        </p:txBody>
      </p:sp>
      <p:graphicFrame>
        <p:nvGraphicFramePr>
          <p:cNvPr id="5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3931920"/>
          <a:ext cx="39136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33472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menu_id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짜장면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38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탕수육 (소)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군만두 (8개)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1"/>
          <p:cNvSpPr/>
          <p:nvPr/>
        </p:nvSpPr>
        <p:spPr>
          <a:xfrm>
            <a:off x="7059168" y="4617720"/>
            <a:ext cx="603504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19" name="caption"/>
          <p:cNvSpPr txBox="1"/>
          <p:nvPr/>
        </p:nvSpPr>
        <p:spPr>
          <a:xfrm>
            <a:off x="594360" y="557784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고객·가게 정보는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한 번만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저장하고, 주문은 번호(외래키)로 가리킵니다. 다시 합쳐 보는 기술이 Ch05의 JOIN.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SQL의 네 가지 종류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SQL의 네 가지 종류 = 10챕터 지도</a:t>
            </a:r>
            <a:endParaRPr lang="en-US" sz="30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3566160"/>
                <a:gridCol w="3291840"/>
                <a:gridCol w="112471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분류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하는 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대표 명령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DML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 조회·조작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데이터를 읽고 넣고 고치고 지움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SELECT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INSERT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UPDATE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DELETE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01~06, 08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DDL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 정의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테이블 같은 구조를 만들고 바꿈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CREATE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ALTER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DROP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TCL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트랜잭션 제어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여러 작업을 한 묶음으로 확정·취소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COMMIT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ROLLBACK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DCL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 제어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사용자 권한을 주고 뺏음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GRANT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REVOKE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94360" y="4892040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를 DQL로 따로 분류하는 교재도 있습니다. 정보처리기사는 DML에 포함합니다.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환경과 설치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서버와 클라이언트, 그리고 챕터별 DB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환경과 설치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MySQL 서버와 Workbench는 다른 프로그램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MySQL Workbench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클라이언트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SQL을 쓰고 결과를 본다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640" y="2103120"/>
            <a:ext cx="3931920" cy="1737360"/>
          </a:xfrm>
          <a:prstGeom prst="rect">
            <a:avLst/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2EE"/>
                </a:solidFill>
              </a:rPr>
              <a:t>MySQL Server (mysqld)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2EE"/>
                </a:solidFill>
              </a:rPr>
              <a:t>서버 · 포트 3306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2EE"/>
                </a:solidFill>
              </a:rPr>
              <a:t>데이터를 실제로 저장한다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2651760"/>
            <a:ext cx="2286000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937760" y="2304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44A1B"/>
                </a:solidFill>
              </a:rPr>
              <a:t>SQL 문장 전송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H="1">
            <a:off x="4937760" y="3291840"/>
            <a:ext cx="2286000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93776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44A1B"/>
                </a:solidFill>
              </a:rPr>
              <a:t>결과 표 반환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Java·Python 프로그램, mysql 명령줄도 모두 클라이언트</a:t>
            </a:r>
            <a:endParaRPr lang="en-US" sz="1500" dirty="0"/>
          </a:p>
        </p:txBody>
      </p:sp>
      <p:sp>
        <p:nvSpPr>
          <p:cNvPr id="13" name="caption"/>
          <p:cNvSpPr txBox="1"/>
          <p:nvPr/>
        </p:nvSpPr>
        <p:spPr>
          <a:xfrm>
            <a:off x="594360" y="4846320"/>
            <a:ext cx="110029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서버가 꺼져 있으면 Workbench는 아무것도 못 합니다. 나중에 만들 Spring·Django 서비스도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클라이언트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로서 서버에 SQL을 보냅니다.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환경과 설치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챕터마다 새 데이터베이스를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Ch01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setup.sql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→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hanip_delivery01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, Ch02 →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hanip_delivery02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…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매 챕터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같은 데이터로 깨끗하게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시작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지난 챕터 DB는 지우지 않고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수업 기록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으로 남김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</a:rPr>
              <a:t>      ·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Ch07·08에서 구조와 데이터를 바꿔도 다음 챕터에 영향 없음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실행: setup.sql 열기 →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 + Shift + Enter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(전체 실행)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두 번 실행하면 1007 에러로 멈춤 =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기록 보호 장치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0"/>
            <a:ext cx="0" cy="329184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64592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수업 DB 목록은 언제든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 DATABASES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 'hanip_delivery%';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환경과 설치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DB를 만드는 SQL은 두 줄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CHARACTER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utf8mb4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COLLATE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utf8mb4_0900_ai_ci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hanip_delivery01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3707892"/>
            <a:ext cx="11002975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utf8mb4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= 한글·이모지까지 저장 가능한 문자셋. 나머지 테이블과 데이터는 setup.sql이 만들어 줍니다.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처음 보는 DB 탐색하기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어떤 DB가 있나 → 어떤 테이블이 있나 → 어떻게 생겼나 → 데이터는 어떤 모습인가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DB 탐색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DB 선택과 테이블 목록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hanip_delivery01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TABLES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7행</a:t>
            </a:r>
            <a:endParaRPr lang="en-US" sz="1100" dirty="0"/>
          </a:p>
        </p:txBody>
      </p:sp>
      <p:graphicFrame>
        <p:nvGraphicFramePr>
          <p:cNvPr id="1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4739335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Tables_in_hanip_delivery01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customers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menus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order_items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orders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restaurants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reviews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riders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915408"/>
            <a:ext cx="11002975" cy="1348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를 빼먹으면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1046 No database selected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SCHEMAS 패널에서 DB를 더블클릭해도 같습니다.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DB 탐색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DESC — 테이블의 설계도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6675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258775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12행 중 7행</a:t>
            </a:r>
            <a:endParaRPr lang="en-US" sz="1100" dirty="0"/>
          </a:p>
        </p:txBody>
      </p:sp>
      <p:graphicFrame>
        <p:nvGraphicFramePr>
          <p:cNvPr id="1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80360"/>
          <a:ext cx="11002975" cy="914400"/>
        </p:xfrm>
        <a:graphic>
          <a:graphicData uri="http://schemas.openxmlformats.org/drawingml/2006/table">
            <a:tbl>
              <a:tblPr/>
              <a:tblGrid>
                <a:gridCol w="2983858"/>
                <a:gridCol w="2237893"/>
                <a:gridCol w="932456"/>
                <a:gridCol w="745964"/>
                <a:gridCol w="1491929"/>
                <a:gridCol w="2610875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Field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Type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Null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Key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Default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Extra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restaurant_id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int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NO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PRI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auto_increment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name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varchar(50)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NO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category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varchar(10)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NO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district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varchar(10)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NO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address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varchar(100)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NO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phone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varchar(13)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YES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min_order_amount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int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NO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425440"/>
            <a:ext cx="110029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Null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NO = 필수 ·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Key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PRI = 기본키 ·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Extra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auto_increment = 번호 자동 증가 ·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tinyint(1)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= BOOLEAN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DB 탐색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SELECT … LIMIT — 데이터 미리보기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20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2106371"/>
                <a:gridCol w="1316482"/>
                <a:gridCol w="1316482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district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해운대명가밀면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광안리화덕피자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피자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남천동마라공방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239768"/>
            <a:ext cx="11002975" cy="202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처음 보는 테이블은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항상 LIMIT부터.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단, 어떤 5행이 나올지는 보장되지 않습니다 (ORDER BY는 Ch02).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DB 탐색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몇 행인지 세기 — COUNT(*) 맛보기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6675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21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4739335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COUNT(*)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2888488"/>
            <a:ext cx="11002975" cy="337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상반기 주문 563건.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COUNT(*)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는 Ch04에서 자세히 배웁니다.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DB 탐색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한입배달 DB 한눈에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8348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15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4A1B"/>
                </a:solidFill>
              </a:rPr>
              <a:t>가게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834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부산 9개 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94955" y="1965960"/>
            <a:ext cx="0" cy="201168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23555" y="1874520"/>
            <a:ext cx="18348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70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023555" y="315468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4A1B"/>
                </a:solidFill>
              </a:rPr>
              <a:t>메뉴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023555" y="3566160"/>
            <a:ext cx="1834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가게 1 : 메뉴 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95550" y="1965960"/>
            <a:ext cx="0" cy="201168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24150" y="1874520"/>
            <a:ext cx="18348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30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5224150" y="315468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4A1B"/>
                </a:solidFill>
              </a:rPr>
              <a:t>고객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24150" y="3566160"/>
            <a:ext cx="1834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3명은 주문 0건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96145" y="1965960"/>
            <a:ext cx="0" cy="201168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24745" y="1874520"/>
            <a:ext cx="18348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563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7424745" y="315468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4A1B"/>
                </a:solidFill>
              </a:rPr>
              <a:t>주문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424745" y="3566160"/>
            <a:ext cx="1834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주문상세 1,060줄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96740" y="1965960"/>
            <a:ext cx="0" cy="201168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25340" y="1874520"/>
            <a:ext cx="18348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260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9625340" y="315468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4A1B"/>
                </a:solidFill>
              </a:rPr>
              <a:t>리뷰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625340" y="3566160"/>
            <a:ext cx="18348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주문 1 : 리뷰 0..1</a:t>
            </a:r>
            <a:endParaRPr lang="en-US" sz="1300" dirty="0"/>
          </a:p>
        </p:txBody>
      </p:sp>
      <p:sp>
        <p:nvSpPr>
          <p:cNvPr id="23" name="caption"/>
          <p:cNvSpPr txBox="1"/>
          <p:nvPr/>
        </p:nvSpPr>
        <p:spPr>
          <a:xfrm>
            <a:off x="594360" y="4709160"/>
            <a:ext cx="11002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데이터 기간 2026-01-01 ~ 06-30 · 수업의 "오늘"은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2026-06-30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 · SQL 작성 규칙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기억할 다섯 가지 규칙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예약어는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대문자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, 테이블·열 이름은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소문자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문장 끝에는 세미콜론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문자열과 날짜는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작은따옴표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'부산진구'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절마다 줄바꿈: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/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/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주석은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(하이픈 두 개 +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공백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) 또는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/* */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0"/>
            <a:ext cx="0" cy="329184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64592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MySQL은 대소문자를 가리지 않지만,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코드는 사람이 읽습니다.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에러 읽기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1146 — 테이블이 없음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6675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error"/>
          <p:cNvSpPr txBox="1"/>
          <p:nvPr/>
        </p:nvSpPr>
        <p:spPr>
          <a:xfrm>
            <a:off x="594360" y="2587752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</a:rPr>
              <a:t>▶ 실행 결과 · 에러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Code: 1146. Table 'hanip_delivery01.restaurant' doesn't exist</a:t>
            </a:r>
            <a:endParaRPr lang="en-US" sz="1200" dirty="0"/>
          </a:p>
        </p:txBody>
      </p:sp>
      <p:sp>
        <p:nvSpPr>
          <p:cNvPr id="7" name="caption"/>
          <p:cNvSpPr txBox="1"/>
          <p:nvPr/>
        </p:nvSpPr>
        <p:spPr>
          <a:xfrm>
            <a:off x="594360" y="4187952"/>
            <a:ext cx="11002975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테이블 이름은 복수형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번호 → 이름 →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 TABLES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로 비교.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에러 읽기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1054 — 열이 없음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6675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error"/>
          <p:cNvSpPr txBox="1"/>
          <p:nvPr/>
        </p:nvSpPr>
        <p:spPr>
          <a:xfrm>
            <a:off x="594360" y="2587752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</a:rPr>
              <a:t>▶ 실행 결과 · 에러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Code: 1054. Unknown column 'menu_name' in 'field list'</a:t>
            </a:r>
            <a:endParaRPr lang="en-US" sz="1200" dirty="0"/>
          </a:p>
        </p:txBody>
      </p:sp>
      <p:sp>
        <p:nvSpPr>
          <p:cNvPr id="7" name="caption"/>
          <p:cNvSpPr txBox="1"/>
          <p:nvPr/>
        </p:nvSpPr>
        <p:spPr>
          <a:xfrm>
            <a:off x="594360" y="4187952"/>
            <a:ext cx="11002975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메뉴명 열은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기억나지 않으면 추측하지 말고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 menus;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에러 읽기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1064 — 문법 오류는 near 바로 앞을 본다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6675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error"/>
          <p:cNvSpPr txBox="1"/>
          <p:nvPr/>
        </p:nvSpPr>
        <p:spPr>
          <a:xfrm>
            <a:off x="594360" y="2587752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</a:rPr>
              <a:t>▶ 실행 결과 · 에러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Code: 1064. You have an error in your SQL syntax; check the manual that corresponds to your MySQL …</a:t>
            </a:r>
            <a:endParaRPr lang="en-US" sz="1200" dirty="0"/>
          </a:p>
        </p:txBody>
      </p:sp>
      <p:sp>
        <p:nvSpPr>
          <p:cNvPr id="7" name="caption"/>
          <p:cNvSpPr txBox="1"/>
          <p:nvPr/>
        </p:nvSpPr>
        <p:spPr>
          <a:xfrm>
            <a:off x="594360" y="4187952"/>
            <a:ext cx="11002975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near 'FROM restaurants'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→ FROM 바로 앞의 쉼표가 범인입니다.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에러 읽기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더 무서운 건 에러가 안 나는 실수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쉼표 하나 빠짐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11556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result-caption"/>
          <p:cNvSpPr txBox="1"/>
          <p:nvPr/>
        </p:nvSpPr>
        <p:spPr>
          <a:xfrm>
            <a:off x="594360" y="33832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3행</a:t>
            </a:r>
            <a:endParaRPr lang="en-US" sz="1100" dirty="0"/>
          </a:p>
        </p:txBody>
      </p:sp>
      <p:graphicFrame>
        <p:nvGraphicFramePr>
          <p:cNvPr id="27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675888"/>
          <a:ext cx="5272888" cy="914400"/>
        </p:xfrm>
        <a:graphic>
          <a:graphicData uri="http://schemas.openxmlformats.org/drawingml/2006/table">
            <a:tbl>
              <a:tblPr/>
              <a:tblGrid>
                <a:gridCol w="527288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돼지국밥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섞어국밥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수육 (중)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의도한 쿼리</a:t>
            </a:r>
            <a:endParaRPr lang="en-US" sz="1600" dirty="0"/>
          </a:p>
        </p:txBody>
      </p:sp>
      <p:sp>
        <p:nvSpPr>
          <p:cNvPr id="10" name="code-bg"/>
          <p:cNvSpPr/>
          <p:nvPr/>
        </p:nvSpPr>
        <p:spPr>
          <a:xfrm>
            <a:off x="6324448" y="2039112"/>
            <a:ext cx="5272888" cy="111556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525616" y="2185416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12" name="result-caption"/>
          <p:cNvSpPr txBox="1"/>
          <p:nvPr/>
        </p:nvSpPr>
        <p:spPr>
          <a:xfrm>
            <a:off x="6324448" y="33832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3행</a:t>
            </a:r>
            <a:endParaRPr lang="en-US" sz="1100" dirty="0"/>
          </a:p>
        </p:txBody>
      </p:sp>
      <p:graphicFrame>
        <p:nvGraphicFramePr>
          <p:cNvPr id="53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3675888"/>
          <a:ext cx="5272888" cy="914400"/>
        </p:xfrm>
        <a:graphic>
          <a:graphicData uri="http://schemas.openxmlformats.org/drawingml/2006/table">
            <a:tbl>
              <a:tblPr/>
              <a:tblGrid>
                <a:gridCol w="2876121"/>
                <a:gridCol w="2396767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돼지국밥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순대국밥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섞어국밥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10500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594360" y="5108448"/>
            <a:ext cx="1100297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쉼표가 빠지면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name의 별칭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 됩니다. 결과 열 이름과 값이 기대와 맞는지 항상 확인하세요.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배운 것</a:t>
            </a:r>
            <a:endParaRPr lang="en-US" sz="30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43991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개념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줄 요약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DBMS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데이터를 정확·동시·안전하게 다루는 소프트웨어 (MySQL)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테이블 · 행 · 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표 · 데이터 한 건 · 항목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기본키 / 외래키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행을 콕 집는 값 / 다른 테이블의 기본키를 가리키는 값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SQL 분류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DML(조회·조작) · DDL(구조) · TCL(트랜잭션) · DCL(권한)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챕터별 DB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매 챕터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setup.sql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hanip_deliveryNN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, 지난 DB는 기록으로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탐색 순서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SHOW DATABASES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USE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SHOW TABLES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SELECT … LIMIT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에러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번호 → 이름·위치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로 비교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practice.md — 처음 보는 DB 파악하기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테이블 목록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고객 테이블 구조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메뉴 미리보기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배달 기사 명단 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주문 상세는 몇 줄일까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에러 고치기 ①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에러 고치기 ②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탐색 보고서 ★★★</a:t>
            </a:r>
            <a:endParaRPr lang="en-US" sz="20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557784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기대 결과와 같으면 정답입니다. 정답과 해설은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answers.md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 · Ch02 SELECT 기본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원하는 행과 열만 정확하게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4F"/>
                </a:solidFill>
              </a:rPr>
              <a:t>From. 운영팀 박 팀장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부산진구·수영구의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영업 중인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가게 중 최소 주문 금액이 15,000원 이하인 곳을, 배달팁이 싼 순서로 뽑아 주세요.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846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restaurants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로는 15곳이 전부 나옵니다. 원하는 </a:t>
            </a:r>
            <a:pPr indent="0" marL="0">
              <a:buNone/>
            </a:pPr>
            <a:r>
              <a:rPr lang="en-US" sz="1700" b="1" dirty="0">
                <a:solidFill>
                  <a:srgbClr val="C5CAD3"/>
                </a:solidFill>
              </a:rPr>
              <a:t>행만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 고르고 </a:t>
            </a:r>
            <a:pPr indent="0" marL="0">
              <a:buNone/>
            </a:pPr>
            <a:r>
              <a:rPr lang="en-US" sz="1700" b="1" dirty="0">
                <a:solidFill>
                  <a:srgbClr val="C5CAD3"/>
                </a:solidFill>
              </a:rPr>
              <a:t>순서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를 정하는 법 — Ch02에서.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kyong Thesis">
  <a:themeElements>
    <a:clrScheme name="Pukyong Thesis">
      <a:dk1>
        <a:srgbClr val="1F2937"/>
      </a:dk1>
      <a:lt1>
        <a:srgbClr val="F4F2EE"/>
      </a:lt1>
      <a:dk2>
        <a:srgbClr val="1B2130"/>
      </a:dk2>
      <a:lt2>
        <a:srgbClr val="EAE6DF"/>
      </a:lt2>
      <a:accent1>
        <a:srgbClr val="A44A1B"/>
      </a:accent1>
      <a:accent2>
        <a:srgbClr val="E08A4F"/>
      </a:accent2>
      <a:accent3>
        <a:srgbClr val="8DB3E8"/>
      </a:accent3>
      <a:accent4>
        <a:srgbClr val="2F6B4F"/>
      </a:accent4>
      <a:accent5>
        <a:srgbClr val="6B7280"/>
      </a:accent5>
      <a:accent6>
        <a:srgbClr val="D6D1C7"/>
      </a:accent6>
      <a:hlink>
        <a:srgbClr val="A44A1B"/>
      </a:hlink>
      <a:folHlink>
        <a:srgbClr val="6B7280"/>
      </a:folHlink>
    </a:clrScheme>
    <a:fontScheme name="Pukyong Thesis">
      <a:majorFont>
        <a:latin typeface="Gowun 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Korea IT Academy Busan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Ch01. 데이터베이스와 첫 만남</dc:title>
  <dc:subject>PptxGenJS Presentation</dc:subject>
  <dc:creator>김준일</dc:creator>
  <cp:lastModifiedBy>김준일</cp:lastModifiedBy>
  <cp:revision>1</cp:revision>
  <dcterms:created xsi:type="dcterms:W3CDTF">2026-10-29T02:23:29Z</dcterms:created>
  <dcterms:modified xsi:type="dcterms:W3CDTF">2026-10-29T02:23:29Z</dcterms:modified>
</cp:coreProperties>
</file>