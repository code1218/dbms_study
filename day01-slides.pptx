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2D8B8B">
              <a:alpha val="25000"/>
            </a:srgbClr>
          </a:solidFill>
          <a:ln w="12700">
            <a:solidFill>
              <a:srgbClr val="2D8B8B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743200"/>
            <a:ext cx="2286000" cy="2286000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2194560" cy="32004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 10일 완성 과정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54864" cy="1645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2316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쓰는 건데?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777240" y="3886200"/>
            <a:ext cx="6858000" cy="502920"/>
          </a:xfrm>
          <a:prstGeom prst="rect">
            <a:avLst/>
          </a:prstGeom>
          <a:solidFill>
            <a:srgbClr val="182236"/>
          </a:solidFill>
          <a:ln w="12700">
            <a:solidFill>
              <a:srgbClr val="1822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8862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💬  "엑셀이면 되는 거 아닌가요?"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한국IT교육센터 부산점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배울 것들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987552"/>
            <a:ext cx="420624" cy="420624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87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914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데이터베이스인가?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2070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엑셀의 한계 체험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412480" y="868680"/>
            <a:ext cx="365760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64208"/>
            <a:ext cx="8412480" cy="658368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1783080"/>
            <a:ext cx="420624" cy="420624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7830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1709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개념 3가지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0025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 · Workbench · SQL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412480" y="1664208"/>
            <a:ext cx="365760" cy="658368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45973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2578608"/>
            <a:ext cx="420624" cy="420624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786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250545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 설치 &amp; 첫 접속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27980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세팅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12480" y="2459736"/>
            <a:ext cx="365760" cy="658368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255264"/>
            <a:ext cx="8412480" cy="658368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374136"/>
            <a:ext cx="420624" cy="420624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3741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330098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타입 입문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3593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 · VARCHAR · DATE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412480" y="3255264"/>
            <a:ext cx="365760" cy="658368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05079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" y="4169664"/>
            <a:ext cx="420624" cy="420624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1696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97280" y="40965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테이블 만들기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97280" y="43891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CREATE TABLE 실습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412480" y="4050792"/>
            <a:ext cx="365760" cy="658368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엑셀이면 안 되나요?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39319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77240"/>
            <a:ext cx="3931920" cy="411480"/>
          </a:xfrm>
          <a:prstGeom prst="rect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77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 엑셀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26187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👍  누구나 쉽게 사용 가능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6459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👍  간단한 계산·정렬 편리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02996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😰  동시 수정 → 충돌 발생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41401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😰  10만 건 이상 → 버벅임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79806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😰  같은 데이터 여러 곳 복사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18211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😰  잘못 입력해도 막을 수 없음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56616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😰  데이터 연결 관계 표현 어려움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92040" y="777240"/>
            <a:ext cx="39319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777240"/>
            <a:ext cx="393192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777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🗄️  데이터베이스 (MySQL)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74920" y="126187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수백만 건도 빠르게 처리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16459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여러 명 동시 접속 OK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4920" y="202996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데이터 중복 방지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241401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잘못된 입력 차단 (제약조건)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4920" y="279806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테이블 간 관계 표현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74920" y="318211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트랜잭션 (올 오어 낫씽)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74920" y="356616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보안 · 권한 관리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06240" y="2331720"/>
            <a:ext cx="731520" cy="7315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3200400"/>
            <a:ext cx="3200400" cy="3200400"/>
          </a:xfrm>
          <a:prstGeom prst="ellipse">
            <a:avLst/>
          </a:prstGeom>
          <a:solidFill>
            <a:srgbClr val="2D8B8B">
              <a:alpha val="20000"/>
            </a:srgbClr>
          </a:solidFill>
          <a:ln w="12700">
            <a:solidFill>
              <a:srgbClr val="2D8B8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개념 — 비유로 이해하기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2606040" cy="3886200"/>
          </a:xfrm>
          <a:prstGeom prst="rect">
            <a:avLst/>
          </a:prstGeom>
          <a:solidFill>
            <a:srgbClr val="192B50"/>
          </a:solidFill>
          <a:ln w="12700">
            <a:solidFill>
              <a:srgbClr val="4AB3B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058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🏭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217627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 창고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578608"/>
            <a:ext cx="1691640" cy="22860"/>
          </a:xfrm>
          <a:prstGeom prst="rect">
            <a:avLst/>
          </a:prstGeom>
          <a:solidFill>
            <a:srgbClr val="4AB3B3"/>
          </a:solidFill>
          <a:ln w="12700">
            <a:solidFill>
              <a:srgbClr val="4AB3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633472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안전하게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보관하는 큰 창고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868680"/>
            <a:ext cx="2606040" cy="3886200"/>
          </a:xfrm>
          <a:prstGeom prst="rect">
            <a:avLst/>
          </a:prstGeom>
          <a:solidFill>
            <a:srgbClr val="1E3A5F"/>
          </a:solidFill>
          <a:ln w="12700">
            <a:solidFill>
              <a:srgbClr val="4AB3B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0058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🖥️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200400" y="17373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Workbench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00400" y="217627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 사무실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0" y="2578608"/>
            <a:ext cx="1691640" cy="22860"/>
          </a:xfrm>
          <a:prstGeom prst="rect">
            <a:avLst/>
          </a:prstGeom>
          <a:solidFill>
            <a:srgbClr val="4AB3B3"/>
          </a:solidFill>
          <a:ln w="12700">
            <a:solidFill>
              <a:srgbClr val="4AB3B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2633472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창고를 관리하는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GUI 사무실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868680"/>
            <a:ext cx="2606040" cy="3886200"/>
          </a:xfrm>
          <a:prstGeom prst="rect">
            <a:avLst/>
          </a:prstGeom>
          <a:solidFill>
            <a:srgbClr val="243D65"/>
          </a:solidFill>
          <a:ln w="12700">
            <a:solidFill>
              <a:srgbClr val="4AB3B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35040" y="10058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035040" y="17373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035040" y="217627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 지시서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92240" y="2578608"/>
            <a:ext cx="1691640" cy="22860"/>
          </a:xfrm>
          <a:prstGeom prst="rect">
            <a:avLst/>
          </a:prstGeom>
          <a:solidFill>
            <a:srgbClr val="4AB3B3"/>
          </a:solidFill>
          <a:ln w="12700">
            <a:solidFill>
              <a:srgbClr val="4AB3B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2633472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창고 직원에게 내리는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 언어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D182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사용자 → SQL 작성 → Workbench 실행 → MySQL 처리 → 결과 반환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분류 — 10일 지도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475488"/>
          </a:xfrm>
          <a:prstGeom prst="rect">
            <a:avLst/>
          </a:prstGeom>
          <a:solidFill>
            <a:srgbClr val="FFF3D6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772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 지금 당장 외울 필요 없어요! '이런 게 있구나' 하고 큰 그림만 봐두세요.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71600"/>
            <a:ext cx="82296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71600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DDL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 Definition Language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80160" y="16824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테이블/DB 구조를 만들고 바꾸는 언어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1508760"/>
            <a:ext cx="3657600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508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· DROP · ALTER · TRUNCATE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24028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240280"/>
            <a:ext cx="822960" cy="749808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240280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DML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 Manipulation Language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80160" y="25511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조회·추가·수정·삭제하는 언어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2377440"/>
            <a:ext cx="3657600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8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· INSERT · UPDATE · DELETE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10896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108960"/>
            <a:ext cx="822960" cy="7498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108960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DCL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8016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 Control Language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80160" y="34198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권한을 부여하거나 회수하는 언어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0" y="3246120"/>
            <a:ext cx="3657600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3246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5E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· REVOKE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9776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977640"/>
            <a:ext cx="822960" cy="749808"/>
          </a:xfrm>
          <a:prstGeom prst="rect">
            <a:avLst/>
          </a:prstGeom>
          <a:solidFill>
            <a:srgbClr val="C4573D"/>
          </a:solidFill>
          <a:ln w="12700">
            <a:solidFill>
              <a:srgbClr val="C457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977640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TCL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8016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Transaction Control Language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80160" y="42885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트랜잭션을 제어하는 언어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57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 · ROLLBACK · SAVEPOINT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4800600"/>
            <a:ext cx="16916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80060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DDL + DML만!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번째 데이터베이스 만들기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987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🏗️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60120" y="896112"/>
            <a:ext cx="5303520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89611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DATABASE hanip_delivery;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9326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데이터베이스(창고) 만들기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78308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🚪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60120" y="1856232"/>
            <a:ext cx="5303520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185623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hanip_delivery;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18928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사용할 DB 선택 (창고 들어가기)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74320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2907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60120" y="2816352"/>
            <a:ext cx="5303520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281635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DATABASES;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28529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DB 목록 확인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70332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⚠️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60120" y="3776472"/>
            <a:ext cx="5303520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377647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DATABASE hanip_delivery;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38130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삭제 (주의!)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E8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 utf8mb4: 한글 + 이모지까지 저장 가능한 문자셋  |  CHARACTER SET utf8mb4 COLLATE utf8mb4_unicode_ci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타입 — 택배 상자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438912"/>
          </a:xfrm>
          <a:prstGeom prst="rect">
            <a:avLst/>
          </a:prstGeom>
          <a:solidFill>
            <a:srgbClr val="FFF3D6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772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📦  컬럼의 데이터 타입 = 택배 상자의 종류.  크기와 모양이 맞지 않으면 넣을 수 없어요!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298448"/>
            <a:ext cx="201168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9844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129844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1856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정수 타입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148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-2,147,483,648 ~ 2,147,483,647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578608"/>
            <a:ext cx="1737360" cy="2286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6334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나이, 수량, 가격, ID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127248"/>
            <a:ext cx="1828800" cy="347472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1272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INT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3566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택배 상자처럼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정해진 규격!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68880" y="1298448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68880" y="1298448"/>
            <a:ext cx="2011680" cy="5029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129844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🔤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971800" y="129844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VARCHAR(n)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60320" y="1856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가변 문자열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60320" y="2148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n 바이트 저장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06040" y="2578608"/>
            <a:ext cx="1737360" cy="2286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26334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이름, 주소, 이메일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0" y="3127248"/>
            <a:ext cx="1828800" cy="347472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0" y="31272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VARCHAR(50)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560320" y="3566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택배 상자처럼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정해진 규격!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17720" y="1298448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1298448"/>
            <a:ext cx="2011680" cy="5029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129844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120640" y="129844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09160" y="1856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 타입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09160" y="2148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1000-01-01 ~ 9999-12-31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2578608"/>
            <a:ext cx="1737360" cy="2286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26334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주문일, 생년월일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09160" y="3127248"/>
            <a:ext cx="1828800" cy="347472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31272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order_date DATE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09160" y="3566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택배 상자처럼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정해진 규격!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66560" y="1298448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766560" y="1298448"/>
            <a:ext cx="2011680" cy="502920"/>
          </a:xfrm>
          <a:prstGeom prst="rect">
            <a:avLst/>
          </a:prstGeom>
          <a:solidFill>
            <a:srgbClr val="C4573D"/>
          </a:solidFill>
          <a:ln w="12700">
            <a:solidFill>
              <a:srgbClr val="C457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0" y="129844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💱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7269480" y="129844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DECIMAL(m,d)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58000" y="1856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고정소수점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858000" y="2148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m자리, 소수 d자리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903720" y="2578608"/>
            <a:ext cx="1737360" cy="2286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58000" y="26334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별점, 요금, 금액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858000" y="3127248"/>
            <a:ext cx="1828800" cy="347472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0" y="31272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 DECIMAL(2,1)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858000" y="3566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택배 상자처럼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정해진 규격!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타입 요약표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77240"/>
          <a:ext cx="8503920" cy="914400"/>
        </p:xfrm>
        <a:graphic>
          <a:graphicData uri="http://schemas.openxmlformats.org/drawingml/2006/table">
            <a:tbl>
              <a:tblPr/>
              <a:tblGrid>
                <a:gridCol w="1700784"/>
                <a:gridCol w="1700784"/>
                <a:gridCol w="1700784"/>
                <a:gridCol w="1700784"/>
                <a:gridCol w="1700784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범위 / 크기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 예시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예제 SQL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-21억 ~ +21억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가격, 수량, 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price INT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BIGINT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큰 정수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-922경 ~ +922경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전화번호, 대용량 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phone BIGINT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DECIMAL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(m,d)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고정소수점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m자리, 소수 d자리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별점(2,1), 금액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rating DECIMAL(2,1)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VARCHAR(n)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가변 문자열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최대 65,535 바이트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이름, 이메일, 주소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 VARCHAR(50)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CHAR(n)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고정 문자열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항상 n바이트 차지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고정코드, 성별(M/F)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gender CHAR(1)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TEXT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긴 문자열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최대 65,535 바이트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리뷰, 상품설명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review TEXT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DATE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YYYY-MM-DD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주문일, 생년월일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order_date DATE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DATETIME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날짜+시간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YYYY-MM-DD HH:MM:SS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정확한 시각 기록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created_at DATETIME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TIMESTAMP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타임스탬프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1970-01-01 ~ 2038-01-19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 시간 기록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updated_at TIMESTAMP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BOOLEAN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참/거짓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TRUE(1) / FALSE(0)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활성여부, 재고여부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is_active BOOLEAN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CREATE TABLE 문법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1148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22960"/>
            <a:ext cx="4114800" cy="347472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22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📐 기본 문법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234440"/>
            <a:ext cx="3931920" cy="141732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307592"/>
            <a:ext cx="3657600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테이블명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컬럼명1  데이터타입,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컬럼명2  데이터타입,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컬럼명3  데이터타입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743200"/>
            <a:ext cx="411480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7432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확인 명령어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154680"/>
            <a:ext cx="3931920" cy="41148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821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TABLES;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08960" y="318211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테이블 목록 확인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3685032"/>
            <a:ext cx="3931920" cy="41148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71246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 테이블명;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08960" y="371246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컬럼 구조 확인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4215384"/>
            <a:ext cx="3931920" cy="41148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24281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TABLE 테이블명;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08960" y="424281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테이블 삭제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822960"/>
            <a:ext cx="41605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822960"/>
            <a:ext cx="41605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82296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🏪 restaurants 테이블 (초안)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1234440"/>
            <a:ext cx="3977640" cy="19202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1307592"/>
            <a:ext cx="3703320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restaurants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    INT,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VARCHAR(50),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    VARCHAR(20),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address     VARCHAR(100),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rating      DECIMAL(2,1)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3246120"/>
            <a:ext cx="4160520" cy="1417320"/>
          </a:xfrm>
          <a:prstGeom prst="rect">
            <a:avLst/>
          </a:prstGeom>
          <a:solidFill>
            <a:srgbClr val="FFF8E8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3246120"/>
            <a:ext cx="73152" cy="1417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291840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 이 테이블의 문제점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id에 아무 숫자나 넣을 수 있음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name에 NULL 값 들어가도 OK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중복 데이터도 막을 방법 없음
</a:t>
            </a:r>
            <a:pPr indent="0" marL="0">
              <a:buNone/>
            </a:pPr>
            <a:r>
              <a:rPr lang="en-US" sz="100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Day 2에서 제약조건으로 해결!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따라하기 — 한입배달 테이블 3개 만들기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384048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77240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7498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강사 화면을 보면서 직접 타이핑해보세요!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115568"/>
            <a:ext cx="2697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115568"/>
            <a:ext cx="269748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11556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restaurants (가게)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3192" y="1536192"/>
            <a:ext cx="2551176" cy="21488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" y="1609344"/>
            <a:ext cx="2276856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restaurants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 INT,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VARCHAR(50),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 VARCHAR(20)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115568"/>
            <a:ext cx="2697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115568"/>
            <a:ext cx="269748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11556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customers (고객)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73552" y="1536192"/>
            <a:ext cx="2551176" cy="21488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10712" y="1609344"/>
            <a:ext cx="2276856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customers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INT,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VARCHAR(30),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phone   VARCHAR(20),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address VARCHAR(100)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1115568"/>
            <a:ext cx="2697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1115568"/>
            <a:ext cx="269748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111556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menus (메뉴)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53912" y="1536192"/>
            <a:ext cx="2551176" cy="21488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91072" y="1609344"/>
            <a:ext cx="2276856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menus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      INT,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restaurant_id INT,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menu_name     VARCHAR(50),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price         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solidFill>
            <a:srgbClr val="E8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후 SHOW TABLES; 로 테이블 3개가 생겼는지 확인하세요! → restaurants / customers / menus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 — 테이블 구조 확인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3200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04672"/>
            <a:ext cx="3200400" cy="36576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046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명령어 입력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234440"/>
            <a:ext cx="3017520" cy="56692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307592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 restaurants;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0" y="1417320"/>
            <a:ext cx="82296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4434840" y="1335024"/>
            <a:ext cx="201168" cy="256032"/>
          </a:xfrm>
          <a:prstGeom prst="TRIANGL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804672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804672"/>
            <a:ext cx="416052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80467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결과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234440"/>
          <a:ext cx="4069080" cy="914400"/>
        </p:xfrm>
        <a:graphic>
          <a:graphicData uri="http://schemas.openxmlformats.org/drawingml/2006/table">
            <a:tbl>
              <a:tblPr/>
              <a:tblGrid>
                <a:gridCol w="813816"/>
                <a:gridCol w="813816"/>
                <a:gridCol w="813816"/>
                <a:gridCol w="813816"/>
                <a:gridCol w="813816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Field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Type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Null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Key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Default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NULL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varchar(50)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NULL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category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varchar(20)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NULL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320040" y="2176272"/>
            <a:ext cx="850392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21762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Field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컬럼명   </a:t>
            </a:r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Type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데이터 타입   </a:t>
            </a:r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Null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NULL 허용 여부   </a:t>
            </a:r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키 종류 (PRI=Primary Key)   </a:t>
            </a:r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Default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기본값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0040" y="2651760"/>
            <a:ext cx="85039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26517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🛑  에러 메시지 읽는 법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20040" y="3063240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0040" y="3063240"/>
            <a:ext cx="1005840" cy="53035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" y="3063240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1064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417320" y="30906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have an error in your SQL syntax...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577840" y="3145536"/>
            <a:ext cx="3108960" cy="347472"/>
          </a:xfrm>
          <a:prstGeom prst="rect">
            <a:avLst/>
          </a:prstGeom>
          <a:solidFill>
            <a:srgbClr val="E8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23560" y="314553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세미콜론(;) 빠짐, 오타, 괄호 닫기 확인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20040" y="3685032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20040" y="3685032"/>
            <a:ext cx="1005840" cy="53035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0040" y="3685032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1146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417320" y="371246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'...' doesn't exist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577840" y="3767328"/>
            <a:ext cx="3108960" cy="347472"/>
          </a:xfrm>
          <a:prstGeom prst="rect">
            <a:avLst/>
          </a:prstGeom>
          <a:solidFill>
            <a:srgbClr val="E8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623560" y="37673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테이블 이름 오타 or USE 데이터베이스 먼저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320040" y="4306824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320040" y="4306824"/>
            <a:ext cx="1005840" cy="53035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20040" y="4306824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1049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417320" y="433425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Unknown database '...'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5577840" y="4389120"/>
            <a:ext cx="3108960" cy="347472"/>
          </a:xfrm>
          <a:prstGeom prst="rect">
            <a:avLst/>
          </a:prstGeom>
          <a:solidFill>
            <a:srgbClr val="E8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623560" y="43891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데이터베이스 이름 오타 or 아직 생성 전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연습 문제 — 혼자 해보기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68580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7724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시간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25880" y="758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파일: day01-practice.md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115568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" y="1207008"/>
            <a:ext cx="365760" cy="365760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207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1612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37360" y="116128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hanip_delivery DB를 생성하고 선택하는 SQL을 작성하세요.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1737360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" y="1828800"/>
            <a:ext cx="365760" cy="365760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17830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⭐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37360" y="17830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delivery_riders 테이블을 생성하세요.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컬럼: id INT, name VARCHAR(30), phone VARCHAR(20), region VARCHAR(30)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359152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8912" y="2450592"/>
            <a:ext cx="365760" cy="365760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450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24048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⭐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37360" y="24048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DB에 있는 테이블 목록을 조회하세요.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2980944"/>
            <a:ext cx="8503920" cy="548640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8912" y="3072384"/>
            <a:ext cx="365760" cy="365760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0723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302666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⭐⭐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737360" y="302666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coupons 테이블을 생성하세요.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컬럼: id INT, coupon_code VARCHAR(20), discount_rate INT, valid_until DATE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3602736"/>
            <a:ext cx="8503920" cy="548640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8912" y="3694176"/>
            <a:ext cx="365760" cy="365760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694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" y="36484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⭐⭐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737360" y="364845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restaurants 테이블에 rating DECIMAL(2,1) 컬럼을 추가한 CREATE TABLE을 재작성하세요.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4224528"/>
            <a:ext cx="8503920" cy="548640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38912" y="4315968"/>
            <a:ext cx="365760" cy="365760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4315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14400" y="42702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⭐⭐⭐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737360" y="427024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한입배달에서 필요한 새로운 테이블을 스스로 설계하세요.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(최소 5개 컬럼, 다양한 데이터 타입 활용)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핵심 정리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22960"/>
            <a:ext cx="548640" cy="59436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2296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8595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1155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구조적으로 저장·관리하는 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82296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822960"/>
            <a:ext cx="548640" cy="59436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82296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🏭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03520" y="8595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0" y="11155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쓰는 RDBMS — '창고'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155448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554480"/>
            <a:ext cx="548640" cy="59436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55448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15910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Workbench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18470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 GUI 관리 도구 — '사무실'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155448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554480"/>
            <a:ext cx="548640" cy="59436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55448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03520" y="15910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0" y="18470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DB를 조작하는 언어 — '지시서'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228600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286000"/>
            <a:ext cx="548640" cy="59436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28600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60120" y="23225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DATABASE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0120" y="25786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데이터베이스 생성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228600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2286000"/>
            <a:ext cx="548640" cy="59436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28600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03520" y="23225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3520" y="25786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테이블(엑셀 시트) 생성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301752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3017520"/>
            <a:ext cx="548640" cy="59436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0175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60120" y="30540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데이터 타입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60120" y="33101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 · VARCHAR · DATE · DECIMAL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" y="4480560"/>
            <a:ext cx="8503920" cy="365760"/>
          </a:xfrm>
          <a:prstGeom prst="rect">
            <a:avLst/>
          </a:prstGeom>
          <a:solidFill>
            <a:srgbClr val="E8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8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 테이블명 — 컬럼 구조 확인  |  SHOW TABLES — 테이블 목록  |  SHOW DATABASES — DB 목록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371600"/>
            <a:ext cx="4114800" cy="4114800"/>
          </a:xfrm>
          <a:prstGeom prst="ellipse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60D14"/>
          </a:solidFill>
          <a:ln w="12700">
            <a:solidFill>
              <a:srgbClr val="060D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B3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마무리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내용으로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테이블을 만들었습니다! 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4008" cy="2011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8308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그런데...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테이블에 </a:t>
            </a:r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 데이터나</a:t>
            </a:r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들어가도 되나요?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88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id에 같은 번호를 두 번 넣을 수 있어요
</a:t>
            </a:r>
            <a:pPr indent="0" marL="0">
              <a:buNone/>
            </a:pPr>
            <a:r>
              <a:rPr lang="en-US" sz="1300" dirty="0">
                <a:solidFill>
                  <a:srgbClr val="88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이름 없이도 저장이 돼요
</a:t>
            </a:r>
            <a:pPr indent="0" marL="0">
              <a:buNone/>
            </a:pPr>
            <a:r>
              <a:rPr lang="en-US" sz="1300" dirty="0">
                <a:solidFill>
                  <a:srgbClr val="88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별점에 999999를 넣어도 막을 방법이 없어요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8046720" cy="822960"/>
          </a:xfrm>
          <a:prstGeom prst="rect">
            <a:avLst/>
          </a:prstGeom>
          <a:solidFill>
            <a:srgbClr val="1B2A4A"/>
          </a:solidFill>
          <a:ln w="19050">
            <a:solidFill>
              <a:srgbClr val="2D8B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97764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📅  Day 2 — 테이블을 제대로 만들자: 제약조건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B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KEY · AUTO_INCREMENT · NOT NULL · UNIQUE · DEFAULT · CHECK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 — 데이터베이스, 왜 쓰는 건데?</dc:title>
  <dc:subject>PptxGenJS Presentation</dc:subject>
  <dc:creator>한국IT교육센터 부산점</dc:creator>
  <cp:lastModifiedBy>한국IT교육센터 부산점</cp:lastModifiedBy>
  <cp:revision>1</cp:revision>
  <dcterms:created xsi:type="dcterms:W3CDTF">2026-04-12T16:47:44Z</dcterms:created>
  <dcterms:modified xsi:type="dcterms:W3CDTF">2026-04-12T16:47:44Z</dcterms:modified>
</cp:coreProperties>
</file>