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54" r:id="rId3"/>
  </p:sldMasterIdLst>
  <p:notesMasterIdLst>
    <p:notesMasterId r:id="rId5"/>
  </p:notesMasterIdLst>
  <p:sldIdLst>
    <p:sldId id="256" r:id="rId7"/>
    <p:sldId id="257" r:id="rId9"/>
    <p:sldId id="258" r:id="rId11"/>
    <p:sldId id="259" r:id="rId13"/>
    <p:sldId id="260" r:id="rId15"/>
    <p:sldId id="261" r:id="rId17"/>
    <p:sldId id="262" r:id="rId19"/>
    <p:sldId id="263" r:id="rId20"/>
    <p:sldId id="264" r:id="rId22"/>
    <p:sldId id="265" r:id="rId24"/>
    <p:sldId id="266" r:id="rId26"/>
    <p:sldId id="267" r:id="rId28"/>
    <p:sldId id="268" r:id="rId30"/>
    <p:sldId id="269" r:id="rId32"/>
    <p:sldId id="270" r:id="rId34"/>
  </p:sldIdLst>
  <p:notesMasterIdLst/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" Type="http://schemas.openxmlformats.org/officeDocument/2006/relationships/slideMaster" Target="slideMasters/slideMaster1.xml"></Relationship><Relationship Id="rId4" Type="http://schemas.openxmlformats.org/officeDocument/2006/relationships/theme" Target="theme/theme1.xml"></Relationship><Relationship Id="rId5" Type="http://schemas.openxmlformats.org/officeDocument/2006/relationships/notesMaster" Target="notesMasters/notesMaster1.xml"></Relationship><Relationship Id="rId7" Type="http://schemas.openxmlformats.org/officeDocument/2006/relationships/slide" Target="slides/slide1.xml"></Relationship><Relationship Id="rId9" Type="http://schemas.openxmlformats.org/officeDocument/2006/relationships/slide" Target="slides/slide2.xml"></Relationship><Relationship Id="rId11" Type="http://schemas.openxmlformats.org/officeDocument/2006/relationships/slide" Target="slides/slide3.xml"></Relationship><Relationship Id="rId13" Type="http://schemas.openxmlformats.org/officeDocument/2006/relationships/slide" Target="slides/slide4.xml"></Relationship><Relationship Id="rId15" Type="http://schemas.openxmlformats.org/officeDocument/2006/relationships/slide" Target="slides/slide5.xml"></Relationship><Relationship Id="rId17" Type="http://schemas.openxmlformats.org/officeDocument/2006/relationships/slide" Target="slides/slide6.xml"></Relationship><Relationship Id="rId19" Type="http://schemas.openxmlformats.org/officeDocument/2006/relationships/slide" Target="slides/slide7.xml"></Relationship><Relationship Id="rId20" Type="http://schemas.openxmlformats.org/officeDocument/2006/relationships/slide" Target="slides/slide8.xml"></Relationship><Relationship Id="rId22" Type="http://schemas.openxmlformats.org/officeDocument/2006/relationships/slide" Target="slides/slide9.xml"></Relationship><Relationship Id="rId24" Type="http://schemas.openxmlformats.org/officeDocument/2006/relationships/slide" Target="slides/slide10.xml"></Relationship><Relationship Id="rId26" Type="http://schemas.openxmlformats.org/officeDocument/2006/relationships/slide" Target="slides/slide11.xml"></Relationship><Relationship Id="rId28" Type="http://schemas.openxmlformats.org/officeDocument/2006/relationships/slide" Target="slides/slide12.xml"></Relationship><Relationship Id="rId30" Type="http://schemas.openxmlformats.org/officeDocument/2006/relationships/slide" Target="slides/slide13.xml"></Relationship><Relationship Id="rId32" Type="http://schemas.openxmlformats.org/officeDocument/2006/relationships/slide" Target="slides/slide14.xml"></Relationship><Relationship Id="rId34" Type="http://schemas.openxmlformats.org/officeDocument/2006/relationships/slide" Target="slides/slide15.xml"></Relationship><Relationship Id="rId37" Type="http://schemas.openxmlformats.org/officeDocument/2006/relationships/viewProps" Target="viewProps.xml"></Relationship><Relationship Id="rId38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5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4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5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6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notesSlide" Target="../notesSlides/notesSlide7.xml"></Relationship><Relationship Id="rId3" Type="http://schemas.openxmlformats.org/officeDocument/2006/relationships/slideLayout" Target="../slideLayouts/slideLayout1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8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9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0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1.xm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2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3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4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5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2D8B8B">
              <a:alpha val="22000"/>
            </a:srgbClr>
          </a:solidFill>
          <a:ln w="12700">
            <a:solidFill>
              <a:srgbClr val="2D8B8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10일 완성 과정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1691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테이블을 제대로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만들자: 제약조건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77240" y="3886200"/>
            <a:ext cx="6858000" cy="502920"/>
          </a:xfrm>
          <a:prstGeom prst="rect">
            <a:avLst/>
          </a:prstGeom>
          <a:solidFill>
            <a:srgbClr val="182236"/>
          </a:solidFill>
          <a:ln w="12700">
            <a:solidFill>
              <a:srgbClr val="1822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"아무 데이터나 들어가면 안 되잖아요?"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한국IT교육센터 부산점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복습 퀴즈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54406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5440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9875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MySQL은 어떤 역할을 하나요?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1005840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0058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'창고' 비유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700784"/>
            <a:ext cx="8503920" cy="66751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85623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179222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DATABASE 명령어의 역할은?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1810512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8105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DB 생성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505456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6090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60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259689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VARCHAR(50)과 INT의 차이는?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0" y="2615184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61518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데이터 타입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310128"/>
            <a:ext cx="8503920" cy="66751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46557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4015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구조를 확인하는 명령어는?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3419856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34198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DESC or SHOW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114800"/>
            <a:ext cx="85039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27024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70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206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1에서 만든 테이블의 문제점은?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4224528"/>
            <a:ext cx="1371600" cy="43891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42245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제약조건 없음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 테이블의 문제점 — 직접 체험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4114800" cy="36576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😱  이런 데이터도 들어가요!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207008"/>
            <a:ext cx="3931920" cy="3246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280160"/>
            <a:ext cx="3657600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중복 id 삽입 → 막을 수 없음!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restaurants VALUES (1, '맛집', '한식');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restaurants VALUES (1, '다른가게', '치킨');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NULL 이름 삽입 → 막을 수 없음!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restaurants VALUES (2, NULL, '피자');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존재하지 않는 가게의 메뉴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menus VALUES (1, 999, '메뉴', 15000);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말도 안 되는 별점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restaurants VALUES (3, '가게', '중식');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restaurants SET rating = 9999 WHERE id = 3;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1605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77240"/>
            <a:ext cx="41605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77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 무엇이 문제인가?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261872"/>
            <a:ext cx="3977640" cy="713232"/>
          </a:xfrm>
          <a:prstGeom prst="rect">
            <a:avLst/>
          </a:prstGeom>
          <a:solidFill>
            <a:srgbClr val="FFEAEA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408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49240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1572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id 값이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들어갈 수 있음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139696"/>
            <a:ext cx="3977640" cy="713232"/>
          </a:xfrm>
          <a:prstGeom prst="rect">
            <a:avLst/>
          </a:prstGeom>
          <a:solidFill>
            <a:srgbClr val="FFF0F0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49240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이름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24505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없는 가게가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등록될 수 있음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3977640" cy="713232"/>
          </a:xfrm>
          <a:prstGeom prst="rect">
            <a:avLst/>
          </a:prstGeom>
          <a:solidFill>
            <a:srgbClr val="FFEAEA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163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3054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유령 참조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33284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가게(restaurant_id=999)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메뉴가 등록됨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895344"/>
            <a:ext cx="3977640" cy="713232"/>
          </a:xfrm>
          <a:prstGeom prst="rect">
            <a:avLst/>
          </a:prstGeom>
          <a:solidFill>
            <a:srgbClr val="FFF0F0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4041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초과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4206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별점이 9999도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가능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4800600"/>
            <a:ext cx="4160520" cy="2743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8006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해결책 → 제약조건 (Constraints)!  자물쇠를 달자!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제약조건 6가지 — 한눈에 보기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640080" cy="1207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247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69848" y="9144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2618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행을 유일하게 식별하는 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69848" y="1591056"/>
            <a:ext cx="333756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5910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주민등록번호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76272"/>
            <a:ext cx="640080" cy="12070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963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🎫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69848" y="22860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AUTO_INCREMENT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9848" y="26334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 증가하는 번호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69848" y="2962656"/>
            <a:ext cx="333756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9626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번호표 기계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54787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547872"/>
            <a:ext cx="640080" cy="120700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8679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69848" y="36576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9848" y="4005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값 입력 불가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69848" y="4334256"/>
            <a:ext cx="333756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43342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필수입력란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80467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804672"/>
            <a:ext cx="640080" cy="12070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1247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04688" y="9144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04688" y="12618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값 입력 불가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04688" y="1591056"/>
            <a:ext cx="333756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15910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5E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이메일 주소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17627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176272"/>
            <a:ext cx="640080" cy="120700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4963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504688" y="22860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04688" y="26334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미입력 시 자동 기본값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04688" y="2962656"/>
            <a:ext cx="333756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29626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자동완성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54787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547872"/>
            <a:ext cx="640080" cy="1207008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8679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504688" y="36576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504688" y="4005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범위 외 값 차단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04688" y="4334256"/>
            <a:ext cx="3337560" cy="256032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43342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입력 유효성 검사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PRIMARY KEY &amp; AUTO_INCREMENT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🔑  PRIMARY KEY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주민등록번호 (절대 중복 불가, 절대 NULL 불가)   </a:t>
            </a:r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🎫  AUTO_INCREMENT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번호표 기계 (1, 2, 3... 자동 부여)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41148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적용 예시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755648"/>
            <a:ext cx="3931920" cy="274320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828800"/>
            <a:ext cx="3657600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restaurants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INT PRIMARY KEY AUTO_INCREMENT,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VARCHAR(50),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 VARCHAR(20)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테스트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restaurants (name, category)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('부산명가', '한식');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id는 자동으로 1 입력됨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restaurants (name, category)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('해운대통닭', '치킨');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id는 자동으로 2 입력됨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25880"/>
            <a:ext cx="4160520" cy="3657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3258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실행 결과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55648"/>
          <a:ext cx="39776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category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부산명가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해운대통닭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663440" y="2999232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2999232"/>
            <a:ext cx="4160520" cy="36576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29992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🛑  위반 시 에러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3429000"/>
            <a:ext cx="3977640" cy="12344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92040" y="3502152"/>
            <a:ext cx="370332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PK 중복 시도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restaurants (id, name)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(1, '중복가게');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ERROR 1062 (23000):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Duplicate entry '1' for key 'PRIMARY'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NULL · UNIQUE · DEFAULT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6974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2697480" cy="47548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  NOT NULL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25146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25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비유: 필수입력란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664208"/>
            <a:ext cx="2514600" cy="30175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737360"/>
            <a:ext cx="2240280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customers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INT PRIMARY KEY AUTO_INCREMENT,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VARCHAR(30) NOT NULL,  -- 필수!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VARCHAR(20),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VARCHAR(100)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에러 예시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customers (phone) VALUES ('010-1234-5678');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ERROR 1364: Field 'name' doesn't have a default value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804672"/>
            <a:ext cx="26974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04672"/>
            <a:ext cx="2697480" cy="47548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8046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👤  UNIQUE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1325880"/>
            <a:ext cx="25146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325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5EA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비유: 이메일 주소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1664208"/>
            <a:ext cx="2514600" cy="30175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1737360"/>
            <a:ext cx="2240280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phone에 UNIQUE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customers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INT PRIMARY KEY AUTO_INCREMENT,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VARCHAR(30)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VARCHAR(20) UNIQUE  -- 중복 불가!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에러 예시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customers VALUES (null,'홍길동','010-1111-1111');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customers VALUES (null,'이순신','010-1111-1111');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ERROR 1062: Duplicate entry for key 'phone'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804672"/>
            <a:ext cx="26974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804672"/>
            <a:ext cx="2697480" cy="47548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8046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⚙️  DEFAULT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1325880"/>
            <a:ext cx="251460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325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비유: 자동완성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1664208"/>
            <a:ext cx="2514600" cy="30175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1737360"/>
            <a:ext cx="2240280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restaurants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INT PRIMARY KEY AUTO_INCREMENT,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VARCHAR(50)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  DECIMAL(2,1) DEFAULT 0.0,  -- 기본값!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is_open BOOLEAN DEFAULT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rating 생략 시 자동으로 0.0 입력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restaurants (name) VALUES ('새가게');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rating = 0.0, is_open = 1 (TRUE)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590"/>
            <a:ext cx="9144000" cy="164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— 범위 유효성 검사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CHECK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지정한 조건을 만족하는 데이터만 허용   </a:t>
            </a:r>
            <a:pPr indent="0" marL="0">
              <a:buNone/>
            </a:pPr>
            <a:r>
              <a:rPr lang="en-US" sz="1000" i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MySQL 8.0.16+ 에서 실제 강제 적용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937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4937760" cy="365760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적용 예시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755775"/>
            <a:ext cx="4754880" cy="274320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828800"/>
            <a:ext cx="4481195" cy="2597785"/>
          </a:xfrm>
          <a:prstGeom prst="rect">
            <a:avLst/>
          </a:prstGeom>
          <a:noFill/>
          <a:ln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CREATE TABLE restaurants (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  id       INT PRIMARY KEY AUTO_INCREMENT,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  name     VARCHAR(50) NOT NULL,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  category VARCHAR(20) NOT NULL,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  rating   DECIMAL(2,1) DEFAULT 0.0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             CHECK (rating &gt;= 0.0 AND rating &lt;= 5.0),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  price    INT CHECK (price &gt; 0)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);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endParaRPr lang="ko-KR" altLang="en-US" sz="1000"/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-- 테스트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INSERT INTO restaurants (name, category, rating)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VALUES ('맛집A', '한식', 4.5);   -- ✅ 성공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endParaRPr lang="ko-KR" altLang="en-US" sz="1000"/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INSERT INTO restaurants (name, category, rating)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VALUES ('맛집B', '치킨', 9.9);   -- ❌ 에러!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-- ERROR 3819 (HY000): Check constraint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FontTx/>
              <a:buNone/>
            </a:pPr>
            <a:r>
              <a:rPr lang="en-US" sz="1000">
                <a:solidFill>
                  <a:srgbClr val="D4D4D4"/>
                </a:solidFill>
                <a:latin typeface="Consolas" charset="0"/>
                <a:ea typeface="Consolas" charset="0"/>
                <a:cs typeface="Consolas" charset="0"/>
              </a:rPr>
              <a:t>-- 'restaurants_chk_1' is violated.</a:t>
            </a:r>
            <a:endParaRPr lang="ko-KR" altLang="en-US" sz="1000">
              <a:solidFill>
                <a:srgbClr val="D4D4D4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94960" y="1325880"/>
            <a:ext cx="34290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1325880"/>
            <a:ext cx="34290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3258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쓰는 CHECK 패턴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67985" y="1801495"/>
            <a:ext cx="3264535" cy="4203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1837690"/>
            <a:ext cx="109728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별점 범위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75120" y="1856105"/>
            <a:ext cx="1920240" cy="292735"/>
          </a:xfrm>
          <a:prstGeom prst="rect">
            <a:avLst/>
          </a:prstGeom>
          <a:solidFill>
            <a:srgbClr val="1E1E1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856105"/>
            <a:ext cx="192024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(rating BETWEEN 0 AND 5)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67985" y="2313305"/>
            <a:ext cx="3264535" cy="420370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32120" y="2350135"/>
            <a:ext cx="109728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양수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75120" y="2368550"/>
            <a:ext cx="1920240" cy="292735"/>
          </a:xfrm>
          <a:prstGeom prst="rect">
            <a:avLst/>
          </a:prstGeom>
          <a:solidFill>
            <a:srgbClr val="1E1E1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368550"/>
            <a:ext cx="192024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(price &gt; 0)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7985" y="2825750"/>
            <a:ext cx="3264535" cy="4203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32120" y="2861945"/>
            <a:ext cx="109728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 양수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75120" y="2880360"/>
            <a:ext cx="1920240" cy="292735"/>
          </a:xfrm>
          <a:prstGeom prst="rect">
            <a:avLst/>
          </a:prstGeom>
          <a:solidFill>
            <a:srgbClr val="1E1E1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2880360"/>
            <a:ext cx="192024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(quantity &gt;= 1)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67985" y="3337560"/>
            <a:ext cx="3264535" cy="420370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32120" y="3374390"/>
            <a:ext cx="109728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 제한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0" y="3392170"/>
            <a:ext cx="1920240" cy="292735"/>
          </a:xfrm>
          <a:prstGeom prst="rect">
            <a:avLst/>
          </a:prstGeom>
          <a:solidFill>
            <a:srgbClr val="1E1E1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3392170"/>
            <a:ext cx="192024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(age &gt;= 18)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67985" y="3849370"/>
            <a:ext cx="3264535" cy="4203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32120" y="3886200"/>
            <a:ext cx="109728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성별 코드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75120" y="3904615"/>
            <a:ext cx="1920240" cy="292735"/>
          </a:xfrm>
          <a:prstGeom prst="rect">
            <a:avLst/>
          </a:prstGeom>
          <a:solidFill>
            <a:srgbClr val="1E1E1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3904615"/>
            <a:ext cx="192024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(gender IN ('M','F'))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467985" y="4361815"/>
            <a:ext cx="3264535" cy="420370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32120" y="4398010"/>
            <a:ext cx="109728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배달비 음수X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75120" y="4416425"/>
            <a:ext cx="1920240" cy="292735"/>
          </a:xfrm>
          <a:prstGeom prst="rect">
            <a:avLst/>
          </a:prstGeom>
          <a:solidFill>
            <a:srgbClr val="1E1E1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4416425"/>
            <a:ext cx="192024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(delivery_fee &gt;= 0)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 vs VARCHAR — 언제 뭘 쓸까?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CHAR(n)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VARCHAR(n)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 방식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항상 n바이트 고정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길이 + 1~2바이트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'A' 저장 (CHAR(10))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A□□□□□□□□□  (10바이트)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 (2바이트)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빠름 (고정 크기)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약간 느림 (가변 크기)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 공간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낭비될 수 있음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효율적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 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성별(M/F), 국가코드(KR),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우편번호, 고정 코드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이름, 이메일, 주소,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 등 길이 가변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MySQL 추천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짧고 고정 길이일 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대부분의 문자열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실무 팁: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주소, 이메일처럼 길이가 들쭉날쭉한 것 → </a:t>
            </a:r>
            <a:pPr indent="0" marL="0">
              <a:buNone/>
            </a:pPr>
            <a:r>
              <a:rPr lang="en-US" sz="1050" b="1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성별(M/F), 국가코드처럼 길이가 딱 정해진 것 → </a:t>
            </a:r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테이블 리뉴얼 — 제약조건 완전 적용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754380" cy="2560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7543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실습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63040" y="7498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1의 허술한 테이블을 DROP하고 제대로 다시 만듭니다!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15568"/>
            <a:ext cx="269748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1556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🏪 restaurants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" y="1545336"/>
            <a:ext cx="2551176" cy="30632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1618488"/>
            <a:ext cx="2276856" cy="2916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restaurants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INT PRIMARY KEY AUTO_INCREMENT,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VARCHAR(50)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 VARCHAR(20)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  VARCHAR(100),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   DECIMAL(2,1) DEFAULT 0.0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CHECK (rating &gt;= 0 AND rating &lt;= 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115568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115568"/>
            <a:ext cx="269748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11556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👤 customers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73552" y="1545336"/>
            <a:ext cx="2551176" cy="30632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10712" y="1618488"/>
            <a:ext cx="2276856" cy="2916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customers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INT PRIMARY KEY AUTO_INCREMENT,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VARCHAR(30)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VARCHAR(20) UNIQUE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VARCHAR(100) UNIQUE,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 VARCHAR(100)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115568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115568"/>
            <a:ext cx="269748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11556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🍜 menus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53912" y="1545336"/>
            <a:ext cx="2551176" cy="30632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91072" y="1618488"/>
            <a:ext cx="2276856" cy="2916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menus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  INT PRIMARY KEY AUTO_INCREMENT,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restaurant_id INT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menu_name     VARCHAR(50)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        INT NOT NULL CHECK (price &gt; 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  VARCHAR(200),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is_available  BOOLEAN DEFAULT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ALTER TABLE — 건물 리모델링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438912"/>
          </a:xfrm>
          <a:prstGeom prst="rect">
            <a:avLst/>
          </a:prstGeom>
          <a:solidFill>
            <a:srgbClr val="FFF3D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🏗️  테이블은 한 번 만들면 끝이 아니에요! 나중에 컬럼을 추가하거나 변경해야 할 때 ALTER TABLE을 씁니다.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16736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16736"/>
            <a:ext cx="4160520" cy="365760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1673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➕  ADD COLUMN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17190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컬럼 추가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975104"/>
            <a:ext cx="3977640" cy="8046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048256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restaurants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COLUMN phone VARCHAR(20);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316736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316736"/>
            <a:ext cx="4160520" cy="3657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31673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 MODIFY COLUMN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17190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 타입/속성 변경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975104"/>
            <a:ext cx="3977640" cy="8046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048256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customers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MODIFY COLUMN name VARCHAR(50) NOT NULL;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099816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99816"/>
            <a:ext cx="4160520" cy="3657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998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🔁  RENAME COLUMN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 이름 변경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758184"/>
            <a:ext cx="3977640" cy="8046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831336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menus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 COLUMN description TO menu_desc;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099816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99816"/>
            <a:ext cx="4160520" cy="36576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0998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🗑️  DROP COLUMN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18888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 삭제 (주의!)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758184"/>
            <a:ext cx="3977640" cy="8046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3831336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restaurants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COLUMN phone;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나오는 제약조건 에러 — 당황하지 마세요!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1051560" cy="7132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1051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1062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6304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 entry 'X' for key 'PRIMARY' (또는 UNIQUE)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63040" y="1124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원인: PRIMARY KEY 또는 UNIQUE 중복 입력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40680" y="932688"/>
            <a:ext cx="3291840" cy="457200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932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이미 있는 값인지 SELECT로 먼저 확인 후 다른 값 사용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645920"/>
            <a:ext cx="8503920" cy="713232"/>
          </a:xfrm>
          <a:prstGeom prst="rect">
            <a:avLst/>
          </a:prstGeom>
          <a:solidFill>
            <a:srgbClr val="FFF8F8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645920"/>
            <a:ext cx="1051560" cy="7132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645920"/>
            <a:ext cx="1051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1364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463040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'name' doesn't have a default value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6304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원인: NOT NULL 컬럼에 값을 넣지 않음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40680" y="1773936"/>
            <a:ext cx="3291840" cy="457200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7739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INSERT 시 해당 컬럼 값을 반드시 포함하거나 DEFAULT 설정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48716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487168"/>
            <a:ext cx="1051560" cy="7132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87168"/>
            <a:ext cx="1051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3819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463040" y="2523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constraint '...' is violated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63040" y="2807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원인: CHECK 조건에 맞지 않는 값 입력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40680" y="2615184"/>
            <a:ext cx="3291840" cy="457200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26151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허용 범위 내의 값을 입력 (예: rating 0~5)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328416"/>
            <a:ext cx="8503920" cy="713232"/>
          </a:xfrm>
          <a:prstGeom prst="rect">
            <a:avLst/>
          </a:prstGeom>
          <a:solidFill>
            <a:srgbClr val="FFF8F8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328416"/>
            <a:ext cx="1051560" cy="7132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328416"/>
            <a:ext cx="1051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1406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463040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too long for column 'name' at row 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463040" y="3648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원인: VARCHAR(n) 길이 초과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40680" y="3456432"/>
            <a:ext cx="3291840" cy="457200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4564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더 짧은 값을 입력하거나 컬럼 크기 증가 (ALTER TABLE)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169664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169664"/>
            <a:ext cx="1051560" cy="7132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169664"/>
            <a:ext cx="1051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1265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46304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truncated for column 'is_active'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463040" y="4489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원인: BOOLEAN에 0/1 외 다른 값 입력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40680" y="4297680"/>
            <a:ext cx="3291840" cy="457200"/>
          </a:xfrm>
          <a:prstGeom prst="rect">
            <a:avLst/>
          </a:prstGeom>
          <a:solidFill>
            <a:srgbClr val="E8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TRUE/FALSE 또는 1/0만 사용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따라하기 — 테이블 리뉴얼 + 데이터 넣기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3891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파일: day02_constraints.sql을 열어서 순서대로 실행해주세요!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97280"/>
            <a:ext cx="41605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" y="116128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161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테이블 삭제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1527048"/>
            <a:ext cx="3977640" cy="116128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1600200"/>
            <a:ext cx="3703320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IF EXISTS menus;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IF EXISTS restaurants;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IF EXISTS customers;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41605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8032" y="116128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1612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663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제약조건 포함 재생성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527048"/>
            <a:ext cx="3977640" cy="116128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1600200"/>
            <a:ext cx="3703320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restaurants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INT PRIMARY KEY AUTO_INCREMENT,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VARCHAR(50) NOT NULL,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-- 3개 테이블 모두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97180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71800"/>
            <a:ext cx="41605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" y="303580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3035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 데이터 INSERT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3401568"/>
            <a:ext cx="3977640" cy="116128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3474720"/>
            <a:ext cx="3703320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restaurants (name, category, address, rating)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('부산명가갈비', '한식', '부산 해운대구', 4.5);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... 10건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97180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71800"/>
            <a:ext cx="41605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8032" y="303580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035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663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제약조건 테스트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401568"/>
            <a:ext cx="3977640" cy="116128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83480" y="3474720"/>
            <a:ext cx="3703320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restaurants (category) VALUES ('한식');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ERROR 1364: name은 NOT NULL!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restaurants (name,category,rating)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('테스트','한식', 9.9);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ERROR 3819: CHECK 위반!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 문제 — 혼자 해보기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75438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7543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시간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25880" y="749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파일: day02-practice.md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" y="1307592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307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11521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14081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 + AUTO_INCREMENT 가 있는 delivery_riders 테이블 생성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60520" cy="8046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64608" y="1307592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307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21808" y="11521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21808" y="14081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NULL, UNIQUE가 있는 admins 테이블 생성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04825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2258568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258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2103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235915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DEFAULT 값이 있는 coupons 테이블 생성 (discount_rate DEFAULT 10)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048256"/>
            <a:ext cx="4160520" cy="8046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2258568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258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21808" y="2103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235915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menus에 spicy_level INT DEFAULT 0 CHECK(0~5) 컬럼 추가 (ALTER TABLE)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99923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9768" y="3209544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6968" y="305409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6968" y="331012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restaurants에 phone 컬럼 추가 후 UNIQUE 제약조건 설정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99232"/>
            <a:ext cx="4160520" cy="8046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64608" y="3209544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21808" y="305409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21808" y="331012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위반 INSERT 시도 → 에러 확인 → 올바른 데이터로 재INSERT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95020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29768" y="4160520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" y="4160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86968" y="400507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86968" y="42611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UNIQUE 위반 시나리오: 같은 phone 번호로 INSERT 시도, 에러 해결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950208"/>
            <a:ext cx="4160520" cy="804672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64608" y="4160520"/>
            <a:ext cx="347472" cy="347472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4160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21808" y="400507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⭐⭐⭐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21808" y="426110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orders 테이블 초안 설계 (customer_id, restaurant_id, menu_id, quantity, status, order_date)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핵심 정리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59436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8595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13385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행의 고유 식별자. 중복 불가, NULL 불가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594360" cy="59436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🎫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49240" y="8595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AUTO_INCREMENT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1133856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증가 번호. INSERT 시 id 생략 가능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57276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572768"/>
            <a:ext cx="594360" cy="59436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5727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16093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188366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값 입력 차단. 필수 항목에 사용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57276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572768"/>
            <a:ext cx="594360" cy="5943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727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49240" y="16093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188366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값 입력 차단. NULL은 여러 개 OK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32257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322576"/>
            <a:ext cx="594360" cy="59436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3225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05840" y="23591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263347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미입력 시 자동으로 기본값 적용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32257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322576"/>
            <a:ext cx="594360" cy="594360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3225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49240" y="23591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263347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조건식으로 유효한 값만 허용 (8.0.16+)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87168" y="307238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87168" y="3072384"/>
            <a:ext cx="59436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87168" y="307238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🏗️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172968" y="3108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172968" y="33832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테이블에 컬럼 추가·수정·삭제·이름변경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914400"/>
            <a:ext cx="3657600" cy="3657600"/>
          </a:xfrm>
          <a:prstGeom prst="ellipse">
            <a:avLst/>
          </a:prstGeom>
          <a:solidFill>
            <a:srgbClr val="2D8B8B">
              <a:alpha val="15000"/>
            </a:srgbClr>
          </a:solidFill>
          <a:ln w="12700">
            <a:solidFill>
              <a:srgbClr val="2D8B8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B3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 마무리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테이블에 제대로 된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자물쇠를 달았습니다! 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" cy="1828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그런데...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테이블은 만들었는데 </a:t>
            </a:r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어떻게 넣고 꺼내죠?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8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데이터 여러 건을 한 번에 넣으려면?
</a:t>
            </a:r>
            <a:pPr indent="0" marL="0">
              <a:buNone/>
            </a:pPr>
            <a:r>
              <a:rPr lang="en-US" sz="1300" dirty="0">
                <a:solidFill>
                  <a:srgbClr val="88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'치킨' 카테고리만 보고 싶다면?
</a:t>
            </a:r>
            <a:pPr indent="0" marL="0">
              <a:buNone/>
            </a:pPr>
            <a:r>
              <a:rPr lang="en-US" sz="1300" dirty="0">
                <a:solidFill>
                  <a:srgbClr val="88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잘못 넣은 데이터는 어떻게 수정하나요?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2D8B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404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📅  Day 3 — 데이터 넣고 꺼내기: CRUD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B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· SELECT · WHERE · ORDER BY · LIMIT · UPDATE · DELETE</a:t>
            </a:r>
            <a:endParaRPr lang="en-US" sz="1100" dirty="0"/>
          </a:p>
        </p:txBody>
      </p:sp>
    </p:spTree>
  </p:cSld>
  <p:clrMapOvr>
    <a:masterClrMapping/>
  </p:clrMapOvr>
</p:sld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15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한국IT교육센터 부산점</dc:creator>
  <cp:lastModifiedBy>한국IT교육센터 부산점</cp:lastModifiedBy>
  <dc:title>Day 2 — 테이블을 제대로 만들자: 제약조건</dc:title>
  <dc:subject>PptxGenJS Presentation</dc:subject>
  <cp:version>10.105.299.56171</cp:version>
  <dcterms:modified xsi:type="dcterms:W3CDTF">2026-04-12T16:52:45Z</dcterms:modified>
</cp:coreProperties>
</file>